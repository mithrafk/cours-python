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Refonte 2026 du cours BD (version initiale : décembre 2020).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lien avec le TP INCA/Ciqual : six CSV liés par des clés, mais aucun mécanisme n'empêche une consommation de référencer un aliment inexistant. Une BD le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table = une relation (au sens mathématique : un ensemble de n-uplets). Insister sur la différence schéma (stable) / contenu (évolue en permanence).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Exemple adapté de J.-L. Hainaut, « Bases de données : concepts, utilisation et développement » (Dunod). Faire lire une commande : qui ? quand ? quels produits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aux étudiants : à quoi sert la table detail ? (relation N–N entre commande et produit)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notations disent la même chose. Repérer dans chacune : clés primaires, clés étrangères, cardinalités.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la clé primaire de chaque table avant de dévoiler le tableau (ancienne diapositive « Quelle est la clé primaire ? 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même NCOM peut apparaître plusieurs fois, le même NPRO aussi ; seul le couple doit être 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Vocabulaire : table enfant (qui référence) / table parent (référencée). Chaque flèche est une contrainte vérifiée par le SGBD.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Ordre d'insertion : d'abord le parent (client), ensuite l'enfant (commande).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 par rapport à l'ancienne version : ici la contrainte en jeu est detail.NCOM → commande.NCOM (et non commande.NCLI).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choix dépend du sens métier : supprimer un client doit-il supprimer son historique de commandes ? Souvent non (on archive plutôt).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classique en TP : sans le PRAGMA, les insertions incohérentes passent sans erreur.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Lien avec le TP INCA, partie G : CHECK (quantite_g &gt; 0) aurait empêché les quantités nulles ou négatives dès l'insertion.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 : les types SQLite sont TEXT, INTEGER, REAL ; les clés étrangères sont déclarées dans la table enfant.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Projection (choix des colonnes) = SELECT ; sélection (choix des lignes) =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syntaxe FROM a, b WHERE … de l'ancienne version reste valide, mais JOIN … ON sépare clairement condition de jointure et filtre. Oublier la condition = produit cartésien.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LEFT JOIN conserve les clients sans commande (colonnes de droite à NULL). Le filtre IS NULL donne l'anti-jointure : « ceux qui n'ont pas de…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 : la chaîne 'Namur ' de l'ancienne version contenait un espace final et ne renvoyait aucune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requêtes donnent le même résultat. DISTINCT est nécessaire dans la version jointure : un produit commandé deux fois apparaîtrait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 de l'ancienne version : « NOT IN ne peut pas s'exprimer par une jointure » est inexact — on l'exprime par une anti-jointure (LEFT JOIN … IS NULL) ou NOT EXISTS. Ce qui est faux, c'est de remplacer NOT IN par une jointure avec &lt;&gt;.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 : l'ancien exemple INSERT INTO client omettait NCLI, qui est la clé primaire (TEXT, non auto-incrémentée) — la requête aurait échoué.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Nouveau : absent de la version précédente. Montrer le résultat avant /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L'ancien exemple count(NCLI) FROM commande comptait les commandes, pas les clients : d'où COUNT(DISTINCT).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ne s'intéresse plus aux clients mais aux localités : une ligne de résultat par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filtre les lignes avant le regroupement ; HAVING filtre les groupes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d'écriture n'est pas l'ordre d'évaluation : c'est pourquoi un alias défini dans SELECT n'est pas utilisable dans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Logique à trois valeurs : VRAI, FAUX, INCONNU. Toute comparaison avec NULL est INCONNU, et WHERE ne garde que VRAI. Lien avec NaN en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Accès concurrents (mentionné dans l'ancienne introduction) : c'est le rôle des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sqlite3 fait partie de la bibliothèque standard. Les paramètres (?) évitent l'injection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table sert directement dans le TP INCA/Ciqual (partie D, question 5 : écrire la requête SQL équivalente aux merge + groupby).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Analogie : l'index d'un livre. Les clés primaires sont indexées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E. F. Codd, « A Relational Model of Data for Large Shared Data Banks », 1970.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 les captures du classement 2017. Pour un classement à jour : db-engines.com/en/ranking.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Synthèse des trois anciennes diapositives « Les défis des BD d'aujourd'hui », mises à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Bases de données relationnelles et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9D4E3"/>
                </a:solidFill>
                <a:latin typeface="Calibri"/>
              </a:rPr>
              <a:t>Stocker, organiser et interroger des données — de SQLite à pandas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448056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480560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Modèle relationnel</a:t>
            </a:r>
          </a:p>
        </p:txBody>
      </p:sp>
      <p:sp>
        <p:nvSpPr>
          <p:cNvPr id="6" name="Oval 5"/>
          <p:cNvSpPr/>
          <p:nvPr/>
        </p:nvSpPr>
        <p:spPr>
          <a:xfrm>
            <a:off x="3474720" y="448056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4480560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Clés et contraintes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448056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480560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Interroger et modifier</a:t>
            </a:r>
          </a:p>
        </p:txBody>
      </p:sp>
      <p:sp>
        <p:nvSpPr>
          <p:cNvPr id="10" name="Oval 9"/>
          <p:cNvSpPr/>
          <p:nvPr/>
        </p:nvSpPr>
        <p:spPr>
          <a:xfrm>
            <a:off x="8961120" y="4480560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480560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SQL depuis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A8BA"/>
                </a:solidFill>
                <a:latin typeface="Calibri"/>
              </a:rPr>
              <a:t>Module POO – BD · 3A ·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Pourquoi une base de données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B42318"/>
                </a:solidFill>
                <a:latin typeface="Calibri"/>
              </a:rPr>
              <a:t>Des fichiers CSV…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0" i="0">
                <a:solidFill>
                  <a:srgbClr val="1F232B"/>
                </a:solidFill>
                <a:latin typeface="Calibri"/>
              </a:rPr>
              <a:t>aucune garantie d'unicité : deux lignes pour le même client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0" i="0">
                <a:solidFill>
                  <a:srgbClr val="1F232B"/>
                </a:solidFill>
                <a:latin typeface="Calibri"/>
              </a:rPr>
              <a:t>aucune vérification des liens : une commande peut citer un client inexistant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0" i="0">
                <a:solidFill>
                  <a:srgbClr val="1F232B"/>
                </a:solidFill>
                <a:latin typeface="Calibri"/>
              </a:rPr>
              <a:t>pas de types imposés : 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"12,5"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, 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12.5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et 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douze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cohabitent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0" i="0">
                <a:solidFill>
                  <a:srgbClr val="1F232B"/>
                </a:solidFill>
                <a:latin typeface="Calibri"/>
              </a:rPr>
              <a:t>accès concurrents : deux personnes modifient le même fichier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0" i="0">
                <a:solidFill>
                  <a:srgbClr val="1F232B"/>
                </a:solidFill>
                <a:latin typeface="Calibri"/>
              </a:rPr>
              <a:t>tout relire pour retrouver une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E7B34"/>
                </a:solidFill>
                <a:latin typeface="Calibri"/>
              </a:rPr>
              <a:t>… à une base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21208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1" i="0">
                <a:solidFill>
                  <a:srgbClr val="1F232B"/>
                </a:solidFill>
                <a:latin typeface="Calibri"/>
              </a:rPr>
              <a:t>clés primaires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: unicité garantie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1" i="0">
                <a:solidFill>
                  <a:srgbClr val="1F232B"/>
                </a:solidFill>
                <a:latin typeface="Calibri"/>
              </a:rPr>
              <a:t>clés étrangères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: intégrité des liens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1" i="0">
                <a:solidFill>
                  <a:srgbClr val="1F232B"/>
                </a:solidFill>
                <a:latin typeface="Calibri"/>
              </a:rPr>
              <a:t>types et contraintes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(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NOT NULL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, 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CHECK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)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1" i="0">
                <a:solidFill>
                  <a:srgbClr val="1F232B"/>
                </a:solidFill>
                <a:latin typeface="Calibri"/>
              </a:rPr>
              <a:t>transactions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: modifications sûres et concurrentes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700" b="1" i="0">
                <a:solidFill>
                  <a:srgbClr val="1F232B"/>
                </a:solidFill>
                <a:latin typeface="Calibri"/>
              </a:rPr>
              <a:t>index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: accès rapide, un langage standard (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SQL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743200"/>
            <a:ext cx="457200" cy="0"/>
          </a:xfrm>
          <a:prstGeom prst="line">
            <a:avLst/>
          </a:prstGeom>
          <a:ln w="3810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5047488"/>
            <a:ext cx="10728655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232B"/>
                </a:solidFill>
                <a:latin typeface="Calibri"/>
              </a:rPr>
              <a:t>Le SGBD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refuse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les données incohérentes au lieu de laisser l'analyse les découvrir trop tard.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63039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19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A41"/>
                </a:solidFill>
                <a:latin typeface="Calibri"/>
              </a:rPr>
              <a:t>Modèle relationnel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417319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3"/>
                </a:solidFill>
                <a:latin typeface="Calibri"/>
              </a:rPr>
              <a:t>tables, lignes, colonnes, schéma — l'exemple client_commande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95728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50008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A41"/>
                </a:solidFill>
                <a:latin typeface="Calibri"/>
              </a:rPr>
              <a:t>Clés et contraintes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350008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3"/>
                </a:solidFill>
                <a:latin typeface="Calibri"/>
              </a:rPr>
              <a:t>clé primaire, clé étrangère, intégrité référentielle, NOT NULL, CHECK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28415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82696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A41"/>
                </a:solidFill>
                <a:latin typeface="Calibri"/>
              </a:rPr>
              <a:t>Le langage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82696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3"/>
                </a:solidFill>
                <a:latin typeface="Calibri"/>
              </a:rPr>
              <a:t>SELECT, jointures, sous-requêtes, INSERT, UPDATE, DELETE, GROUP BY, NULL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61104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15384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A41"/>
                </a:solidFill>
                <a:latin typeface="Calibri"/>
              </a:rPr>
              <a:t>SQL depuis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215384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3"/>
                </a:solidFill>
                <a:latin typeface="Calibri"/>
              </a:rPr>
              <a:t>sqlite3, pandas.read_sql, correspondances SQL ↔ pandas, index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193792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48072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A41"/>
                </a:solidFill>
                <a:latin typeface="Calibri"/>
              </a:rPr>
              <a:t>SGBD et enjeux actuels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148072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3"/>
                </a:solidFill>
                <a:latin typeface="Calibri"/>
              </a:rPr>
              <a:t>fondements, familles de SGBD, défis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0E7C7B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Le modèle relationnel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4E3"/>
                </a:solidFill>
                <a:latin typeface="Calibri"/>
              </a:rPr>
              <a:t>tables   ·   lignes et colonnes   ·   schéma et contenu   ·   l'exemple client_commande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Notions de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0" y="2423160"/>
          <a:ext cx="6309360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77340"/>
                <a:gridCol w="1577340"/>
                <a:gridCol w="1577340"/>
                <a:gridCol w="15773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NCLI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LOCALITE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COMPTE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B062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GOFFIN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Namur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-3200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B112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HANSENNE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Poitiers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1250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B332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MONTI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Genève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B512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GILLET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Toulouse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-8700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20640" y="173736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ourier New"/>
              </a:rPr>
              <a:t>table 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3227832"/>
            <a:ext cx="6400800" cy="457200"/>
          </a:xfrm>
          <a:prstGeom prst="rect">
            <a:avLst/>
          </a:prstGeom>
          <a:noFill/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20640" y="45720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45F06"/>
                </a:solidFill>
                <a:latin typeface="Calibri"/>
              </a:rPr>
              <a:t>↑ une ligne = un client (n-uplet)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103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↓ une colonne = une propriété, avec un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420624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1000"/>
              </a:spcAft>
              <a:buClr>
                <a:srgbClr val="0E7C7B"/>
              </a:buClr>
              <a:buFont typeface="Arial"/>
              <a:buChar char="•"/>
            </a:pPr>
            <a:r>
              <a:rPr sz="1800" b="1" i="0">
                <a:solidFill>
                  <a:srgbClr val="1F232B"/>
                </a:solidFill>
                <a:latin typeface="Calibri"/>
              </a:rPr>
              <a:t>Base de données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= ensemble de tables</a:t>
            </a:r>
          </a:p>
          <a:p>
            <a:pPr algn="l" marL="256032" indent="-219456">
              <a:spcAft>
                <a:spcPts val="1000"/>
              </a:spcAft>
              <a:buClr>
                <a:srgbClr val="0E7C7B"/>
              </a:buClr>
              <a:buFont typeface="Arial"/>
              <a:buChar char="•"/>
            </a:pPr>
            <a:r>
              <a:rPr sz="1800" b="1" i="0">
                <a:solidFill>
                  <a:srgbClr val="1F232B"/>
                </a:solidFill>
                <a:latin typeface="Calibri"/>
              </a:rPr>
              <a:t>Table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= lignes + colonnes</a:t>
            </a:r>
          </a:p>
          <a:p>
            <a:pPr algn="l" marL="256032" indent="-219456">
              <a:spcAft>
                <a:spcPts val="1000"/>
              </a:spcAft>
              <a:buClr>
                <a:srgbClr val="0E7C7B"/>
              </a:buClr>
              <a:buFont typeface="Arial"/>
              <a:buChar char="•"/>
            </a:pPr>
            <a:r>
              <a:rPr sz="1800" b="1" i="0">
                <a:solidFill>
                  <a:srgbClr val="1F232B"/>
                </a:solidFill>
                <a:latin typeface="Calibri"/>
              </a:rPr>
              <a:t>Ligne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= suite de valeurs (un objet)</a:t>
            </a:r>
          </a:p>
          <a:p>
            <a:pPr algn="l" marL="256032" indent="-219456">
              <a:spcAft>
                <a:spcPts val="1000"/>
              </a:spcAft>
              <a:buClr>
                <a:srgbClr val="0E7C7B"/>
              </a:buClr>
              <a:buFont typeface="Arial"/>
              <a:buChar char="•"/>
            </a:pPr>
            <a:r>
              <a:rPr sz="1800" b="1" i="0">
                <a:solidFill>
                  <a:srgbClr val="1F232B"/>
                </a:solidFill>
                <a:latin typeface="Calibri"/>
              </a:rPr>
              <a:t>Colonne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= une propriété, avec un 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type</a:t>
            </a:r>
          </a:p>
          <a:p>
            <a:pPr algn="l" marL="256032" indent="-219456">
              <a:spcAft>
                <a:spcPts val="1000"/>
              </a:spcAft>
              <a:buClr>
                <a:srgbClr val="0E7C7B"/>
              </a:buClr>
              <a:buFont typeface="Arial"/>
              <a:buChar char="•"/>
            </a:pPr>
            <a:r>
              <a:rPr sz="1800" b="1" i="0">
                <a:solidFill>
                  <a:srgbClr val="1F232B"/>
                </a:solidFill>
                <a:latin typeface="Calibri"/>
              </a:rPr>
              <a:t>Schéma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= tables + colonnes + contraintes</a:t>
            </a:r>
          </a:p>
          <a:p>
            <a:pPr algn="l" marL="256032" indent="-219456">
              <a:spcAft>
                <a:spcPts val="1000"/>
              </a:spcAft>
              <a:buClr>
                <a:srgbClr val="0E7C7B"/>
              </a:buClr>
              <a:buFont typeface="Arial"/>
              <a:buChar char="•"/>
            </a:pPr>
            <a:r>
              <a:rPr sz="1800" b="1" i="0">
                <a:solidFill>
                  <a:srgbClr val="1F232B"/>
                </a:solidFill>
                <a:latin typeface="Calibri"/>
              </a:rPr>
              <a:t>Contenu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= l'ensemble des lignes à un instant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Exemple fil rouge : la base client_commande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25880"/>
            <a:ext cx="75913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1508760"/>
            <a:ext cx="21945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32B"/>
                </a:solidFill>
                <a:latin typeface="Calibri"/>
              </a:rPr>
              <a:t>4 tables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400" b="1" i="0">
                <a:solidFill>
                  <a:srgbClr val="0E7C7B"/>
                </a:solidFill>
                <a:latin typeface="Courier New"/>
              </a:rPr>
              <a:t>client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16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400" b="1" i="0">
                <a:solidFill>
                  <a:srgbClr val="0E7C7B"/>
                </a:solidFill>
                <a:latin typeface="Courier New"/>
              </a:rPr>
              <a:t>produit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7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400" b="1" i="0">
                <a:solidFill>
                  <a:srgbClr val="0E7C7B"/>
                </a:solidFill>
                <a:latin typeface="Courier New"/>
              </a:rPr>
              <a:t>commande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7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400" b="1" i="0">
                <a:solidFill>
                  <a:srgbClr val="0E7C7B"/>
                </a:solidFill>
                <a:latin typeface="Courier New"/>
              </a:rPr>
              <a:t>detail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14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Les flèches relient une colonne à la ligne qu'elle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référence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Schéma de la base client_commande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949440" cy="30306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417320"/>
            <a:ext cx="3749039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Le schéma décrit pour chaque table :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ses colonnes et leur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type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sa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clé primaire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(🔑)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ses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clés étrangères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(FK1, FK2, FK3)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Courier New"/>
              </a:rPr>
              <a:t>detail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relie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commande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et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produit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: une commande contient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plusieurs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produits, un produit apparaît dans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plusieurs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commandes.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Un même schéma, plusieurs représentations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rcRect t="9000"/>
          <a:stretch>
            <a:fillRect/>
          </a:stretch>
        </p:blipFill>
        <p:spPr>
          <a:xfrm>
            <a:off x="1371600" y="1325880"/>
            <a:ext cx="7796048" cy="38276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77840"/>
            <a:ext cx="11094415" cy="54864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687568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Ce qui compte : les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tables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leurs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clés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et les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liens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entre elles — pas la notation.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0E7C7B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Clés et contraintes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4E3"/>
                </a:solidFill>
                <a:latin typeface="Calibri"/>
              </a:rPr>
              <a:t>clé primaire   ·   clé étrangère   ·   intégrité référentielle   ·   NOT NULL, UNIQUE,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La clé primaire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32B"/>
                </a:solidFill>
                <a:latin typeface="Calibri"/>
              </a:rPr>
              <a:t>Une ou 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plusieurs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colonnes qui identifient 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une ligne de manière unique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800" b="0" i="0">
                <a:solidFill>
                  <a:srgbClr val="1F232B"/>
                </a:solidFill>
                <a:latin typeface="Calibri"/>
              </a:rPr>
              <a:t>impose une 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contrainte d'unicité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: le SGBD rejette toute ligne qui reprend une valeur existante</a:t>
            </a: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800" b="0" i="0">
                <a:solidFill>
                  <a:srgbClr val="1F232B"/>
                </a:solidFill>
                <a:latin typeface="Calibri"/>
              </a:rPr>
              <a:t>ne peut pas être </a:t>
            </a:r>
            <a:r>
              <a:rPr sz="1700" b="1" i="0">
                <a:solidFill>
                  <a:srgbClr val="0E7C7B"/>
                </a:solidFill>
                <a:latin typeface="Courier New"/>
              </a:rPr>
              <a:t>NULL</a:t>
            </a: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800" b="0" i="0">
                <a:solidFill>
                  <a:srgbClr val="1F232B"/>
                </a:solidFill>
                <a:latin typeface="Calibri"/>
              </a:rPr>
              <a:t>recommandée sur 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toute</a:t>
            </a:r>
            <a:r>
              <a:rPr sz="1800" b="0" i="0">
                <a:solidFill>
                  <a:srgbClr val="1F232B"/>
                </a:solidFill>
                <a:latin typeface="Calibri"/>
              </a:rPr>
              <a:t> table</a:t>
            </a: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800" b="0" i="0">
                <a:solidFill>
                  <a:srgbClr val="1F232B"/>
                </a:solidFill>
                <a:latin typeface="Calibri"/>
              </a:rPr>
              <a:t>sert de cible aux 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clés étrangères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Quelle est la clé primaire 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874519"/>
          <a:ext cx="5029199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86608"/>
                <a:gridCol w="284259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Clé primaire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alibri"/>
                        </a:rPr>
                        <a:t>client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ourier New"/>
                        </a:rPr>
                        <a:t>NCLI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alibri"/>
                        </a:rPr>
                        <a:t>produit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ourier New"/>
                        </a:rPr>
                        <a:t>NPRO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alibri"/>
                        </a:rPr>
                        <a:t>commande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ourier New"/>
                        </a:rPr>
                        <a:t>NCOM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32B"/>
                          </a:solidFill>
                          <a:latin typeface="Courier New"/>
                        </a:rPr>
                        <a:t>(NCOM, NPRO)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434340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4453128"/>
            <a:ext cx="4663440" cy="969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Clé composite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Dans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detail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ni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NCOM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ni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NPRO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seuls ne sont uniques : c'est le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couple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qui l'est.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Clé primaire : la contrainte d'unicité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949440" cy="10972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72083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583679" cy="8229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produit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LIBELLE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PRIX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QSTOCK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B45F06"/>
                </a:solidFill>
                <a:latin typeface="Courier New"/>
              </a:rPr>
              <a:t>'PH222'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'PL. HETRE 100x20x2'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1</a:t>
            </a:r>
            <a:r>
              <a:rPr sz="1500">
                <a:solidFill>
                  <a:srgbClr val="1F232B"/>
                </a:solidFill>
                <a:latin typeface="Courier New"/>
              </a:rPr>
              <a:t>2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5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44368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66751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42318"/>
                </a:solidFill>
                <a:latin typeface="Courier New"/>
              </a:rPr>
              <a:t>✖  Erreur : UNIQUE constraint failed: produit.NPRO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85615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32B"/>
                </a:solidFill>
                <a:latin typeface="Calibri"/>
              </a:rPr>
              <a:t>Le produit 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PH222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existe déjà : la ligne est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rejetée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et la table n'est pas modifiée.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325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3"/>
                </a:solidFill>
                <a:latin typeface="Calibri"/>
              </a:rPr>
              <a:t>Table produit (extrait)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955279" y="1645919"/>
          <a:ext cx="3657599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75764"/>
                <a:gridCol w="2581835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NPRO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LIBELLE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PA45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POINTE ACIER 45 (2K)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PA60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POINTE ACIER 60 (1K)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PH222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PL. HETRE 200x20x2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PS222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PL. SAPIN 200x20x2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Clé composite : unicité du couple (NCOM, NPRO)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7B34"/>
                </a:solidFill>
                <a:latin typeface="Calibri"/>
              </a:rPr>
              <a:t>Couple nouveau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03520" cy="10515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74919" y="16459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59" cy="7772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detail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QCOM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B45F06"/>
                </a:solidFill>
                <a:latin typeface="Courier New"/>
              </a:rPr>
              <a:t>'30186'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'PH222'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5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10127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310127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B34"/>
                </a:solidFill>
                <a:latin typeface="Courier New"/>
              </a:rPr>
              <a:t>✔  OK — 1 ligne(s) affectée(s)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42318"/>
                </a:solidFill>
                <a:latin typeface="Calibri"/>
              </a:rPr>
              <a:t>Couple déjà présent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303520" cy="10515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35640" y="16459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937759" cy="7772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detail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QCOM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B45F06"/>
                </a:solidFill>
                <a:latin typeface="Courier New"/>
              </a:rPr>
              <a:t>'30186'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'PA45'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5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10127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46520" y="3310127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42318"/>
                </a:solidFill>
                <a:latin typeface="Courier New"/>
              </a:rPr>
              <a:t>✖  Erreur : UNIQUE constraint failed: detail.NCOM, detail.NPRO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3"/>
                </a:solidFill>
                <a:latin typeface="Calibri"/>
              </a:rPr>
              <a:t>Lignes de la commande 30186 avant insertion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343400"/>
          <a:ext cx="4572000" cy="5852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24000"/>
                <a:gridCol w="1524000"/>
                <a:gridCol w="15240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NPRO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30186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PA45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La clé étrangère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023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32B"/>
                </a:solidFill>
                <a:latin typeface="Calibri"/>
              </a:rPr>
              <a:t>Une colonne d'une table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enfant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qui fait référence à la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clé primaire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d'une table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parent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700" b="0" i="0">
                <a:solidFill>
                  <a:srgbClr val="1F232B"/>
                </a:solidFill>
                <a:latin typeface="Calibri"/>
              </a:rPr>
              <a:t>impose une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contrainte référentielle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: toute valeur doit exister dans la table parent</a:t>
            </a: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700" b="0" i="0">
                <a:solidFill>
                  <a:srgbClr val="1F232B"/>
                </a:solidFill>
                <a:latin typeface="Calibri"/>
              </a:rPr>
              <a:t>relie les tables entre elles : c'est elle qu'on utilise dans les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jointures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417320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37760" y="141732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828800"/>
            <a:ext cx="2377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74920" y="1874519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NCLI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74519"/>
            <a:ext cx="594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203703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532887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LOCALITE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840480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37760" y="384048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commande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251960"/>
            <a:ext cx="2377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74920" y="429768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NCOM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97680"/>
            <a:ext cx="594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626864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NCLI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626864"/>
            <a:ext cx="594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B45F06"/>
                </a:solidFill>
                <a:latin typeface="Calibri"/>
              </a:rPr>
              <a:t>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956048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DATECOM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840480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60" y="384048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4251960"/>
            <a:ext cx="2377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89720" y="429768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NCOM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4297680"/>
            <a:ext cx="594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B45F06"/>
                </a:solidFill>
                <a:latin typeface="Calibri"/>
              </a:rPr>
              <a:t>PK FK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626864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NPRO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4626864"/>
            <a:ext cx="594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B45F06"/>
                </a:solidFill>
                <a:latin typeface="Calibri"/>
              </a:rPr>
              <a:t>PK 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956048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QCOM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1417320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52560" y="141732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produit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1828800"/>
            <a:ext cx="2377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1874519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NPRO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1874519"/>
            <a:ext cx="594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203703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LIBELLE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32887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ourier New"/>
              </a:rPr>
              <a:t>PRIX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126480" y="2926080"/>
            <a:ext cx="0" cy="914400"/>
          </a:xfrm>
          <a:prstGeom prst="line">
            <a:avLst/>
          </a:prstGeom>
          <a:ln w="31750">
            <a:solidFill>
              <a:srgbClr val="B45F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315200" y="4434840"/>
            <a:ext cx="1737360" cy="0"/>
          </a:xfrm>
          <a:prstGeom prst="line">
            <a:avLst/>
          </a:prstGeom>
          <a:ln w="31750">
            <a:solidFill>
              <a:srgbClr val="B45F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241280" y="2926080"/>
            <a:ext cx="0" cy="914400"/>
          </a:xfrm>
          <a:prstGeom prst="line">
            <a:avLst/>
          </a:prstGeom>
          <a:ln w="31750">
            <a:solidFill>
              <a:srgbClr val="B45F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17920" y="31546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B45F06"/>
                </a:solidFill>
                <a:latin typeface="Calibri"/>
              </a:rPr>
              <a:t>enfant → parent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Intégrité référentielle à l'insertion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766560" cy="10972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3795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400800" cy="8229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DATECOM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B45F06"/>
                </a:solidFill>
                <a:latin typeface="Courier New"/>
              </a:rPr>
              <a:t>'30200'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'Z512'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'2009-01-03'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44368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6492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42318"/>
                </a:solidFill>
                <a:latin typeface="Courier New"/>
              </a:rPr>
              <a:t>✖  Erreur : FOREIGN KEY constraint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32B"/>
                </a:solidFill>
                <a:latin typeface="Calibri"/>
              </a:rPr>
              <a:t>Le client 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Z512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</a:t>
            </a:r>
            <a:r>
              <a:rPr sz="1700" b="1" i="0">
                <a:solidFill>
                  <a:srgbClr val="1F232B"/>
                </a:solidFill>
                <a:latin typeface="Calibri"/>
              </a:rPr>
              <a:t>n'existe pas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dans la table </a:t>
            </a:r>
            <a:r>
              <a:rPr sz="1600" b="1" i="0">
                <a:solidFill>
                  <a:srgbClr val="0E7C7B"/>
                </a:solidFill>
                <a:latin typeface="Courier New"/>
              </a:rPr>
              <a:t>client</a:t>
            </a:r>
            <a:r>
              <a:rPr sz="1700" b="0" i="0">
                <a:solidFill>
                  <a:srgbClr val="1F232B"/>
                </a:solidFill>
                <a:latin typeface="Calibri"/>
              </a:rPr>
              <a:t> : la commande ferait référence à rien.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6766560" cy="1005840"/>
          </a:xfrm>
          <a:prstGeom prst="roundRect">
            <a:avLst>
              <a:gd name="adj" fmla="val 8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640080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7B34"/>
                </a:solidFill>
                <a:latin typeface="Calibri"/>
              </a:rPr>
              <a:t>Règle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Insérer d'abord dans la table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parent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, ensuite dans la table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enfant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3258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3"/>
                </a:solidFill>
                <a:latin typeface="Calibri"/>
              </a:rPr>
              <a:t>client.NCLI existants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691640"/>
            <a:ext cx="3749039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ourier New"/>
              </a:rPr>
              <a:t>B062  B112  B332  B512  C003  C123  C400  D063  F010  F011  F400  K111  K729  L422  S127  S712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3375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42318"/>
                </a:solidFill>
                <a:latin typeface="Courier New"/>
              </a:rPr>
              <a:t>Z512 ?  absent 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Intégrité référentielle à la suppression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16635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DELETE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'30188'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15768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71576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42318"/>
                </a:solidFill>
                <a:latin typeface="Courier New"/>
              </a:rPr>
              <a:t>✖  Erreur : FOREIGN KEY constraint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39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4 lignes de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detail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référencent encore la commande 30188 (contrainte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detail.NCOM → commande.NCOM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7B34"/>
                </a:solidFill>
                <a:latin typeface="Calibri"/>
              </a:rPr>
              <a:t>Supprimer d'abord les enfants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93775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DELETE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detail</a:t>
            </a:r>
            <a:r>
              <a:rPr sz="1300">
                <a:solidFill>
                  <a:srgbClr val="1F232B"/>
                </a:solidFill>
                <a:latin typeface="Courier New"/>
              </a:rPr>
              <a:t>  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=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B45F06"/>
                </a:solidFill>
                <a:latin typeface="Courier New"/>
              </a:rPr>
              <a:t>'30188'</a:t>
            </a:r>
            <a:r>
              <a:rPr sz="13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423160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7B34"/>
                </a:solidFill>
                <a:latin typeface="Courier New"/>
              </a:rPr>
              <a:t>✔  OK — 4 ligne(s) affectée(s)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493775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DELETE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=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B45F06"/>
                </a:solidFill>
                <a:latin typeface="Courier New"/>
              </a:rPr>
              <a:t>'30188'</a:t>
            </a:r>
            <a:r>
              <a:rPr sz="13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40480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7B34"/>
                </a:solidFill>
                <a:latin typeface="Courier New"/>
              </a:rPr>
              <a:t>✔  OK — 1 ligne(s) affectée(s)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5001768"/>
            <a:ext cx="10728655" cy="649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7B34"/>
                </a:solidFill>
                <a:latin typeface="Calibri"/>
              </a:rPr>
              <a:t>Règle (mode « blocage »)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Supprimer d'abord dans la table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enfant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, ensuite dans la table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parent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Que faire des lignes enfants ? ON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3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66927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CREATE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TABLE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detail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REFERENCES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DELETE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CASCADE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325880"/>
          <a:ext cx="4663439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4769"/>
                <a:gridCol w="300867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Effet de la suppression du parent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NO ACTION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refusée (défaut)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RESTRICT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refusée immédiatement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CASCADE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enfants supprimés aussi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SET NULL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clé étrangère mise à NULL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SET DEFAULT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valeur par défaut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474720"/>
            <a:ext cx="6035040" cy="14630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584448"/>
            <a:ext cx="5669279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CASCADE : pratique mais dangereux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Une seule suppression peut effacer des milliers de lignes dans d'autres 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8912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Même logique pour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ON UPDATE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 (changement de la valeur de la clé parent).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Attention avec SQLite : activer les clés étrangères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42318"/>
                </a:solidFill>
                <a:latin typeface="Calibri"/>
              </a:rPr>
              <a:t>Sans PRAGMA (comportement par défaut)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1F232B"/>
                </a:solidFill>
                <a:latin typeface="Courier New"/>
              </a:rPr>
              <a:t>(</a:t>
            </a:r>
            <a:r>
              <a:rPr sz="1200">
                <a:solidFill>
                  <a:srgbClr val="B45F06"/>
                </a:solidFill>
                <a:latin typeface="Courier New"/>
              </a:rPr>
              <a:t>'30200'</a:t>
            </a:r>
            <a:r>
              <a:rPr sz="1200">
                <a:solidFill>
                  <a:srgbClr val="1F232B"/>
                </a:solidFill>
                <a:latin typeface="Courier New"/>
              </a:rPr>
              <a:t>,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B45F06"/>
                </a:solidFill>
                <a:latin typeface="Courier New"/>
              </a:rPr>
              <a:t>'Z512'</a:t>
            </a:r>
            <a:r>
              <a:rPr sz="1200">
                <a:solidFill>
                  <a:srgbClr val="1F232B"/>
                </a:solidFill>
                <a:latin typeface="Courier New"/>
              </a:rPr>
              <a:t>,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B45F06"/>
                </a:solidFill>
                <a:latin typeface="Courier New"/>
              </a:rPr>
              <a:t>'2009-01-03'</a:t>
            </a:r>
            <a:r>
              <a:rPr sz="1200">
                <a:solidFill>
                  <a:srgbClr val="1F232B"/>
                </a:solidFill>
                <a:latin typeface="Courier New"/>
              </a:rPr>
              <a:t>)</a:t>
            </a:r>
            <a:r>
              <a:rPr sz="12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7B34"/>
                </a:solidFill>
                <a:latin typeface="Courier New"/>
              </a:rPr>
              <a:t>✔  OK — 1 ligne(s) affectée(s)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La commande orpheline est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acceptée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silencieusement.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7B34"/>
                </a:solidFill>
                <a:latin typeface="Calibri"/>
              </a:rPr>
              <a:t>Avec PRAGMA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93775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E7C7B"/>
                </a:solidFill>
                <a:latin typeface="Courier New"/>
              </a:rPr>
              <a:t>PRAGMA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1F232B"/>
                </a:solidFill>
                <a:latin typeface="Courier New"/>
              </a:rPr>
              <a:t>foreign_keys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1F232B"/>
                </a:solidFill>
                <a:latin typeface="Courier New"/>
              </a:rPr>
              <a:t>=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200">
                <a:solidFill>
                  <a:srgbClr val="1F232B"/>
                </a:solidFill>
                <a:latin typeface="Courier New"/>
              </a:rPr>
              <a:t>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1F232B"/>
                </a:solidFill>
                <a:latin typeface="Courier New"/>
              </a:rPr>
              <a:t>(</a:t>
            </a:r>
            <a:r>
              <a:rPr sz="1200">
                <a:solidFill>
                  <a:srgbClr val="B45F06"/>
                </a:solidFill>
                <a:latin typeface="Courier New"/>
              </a:rPr>
              <a:t>'30200'</a:t>
            </a:r>
            <a:r>
              <a:rPr sz="1200">
                <a:solidFill>
                  <a:srgbClr val="1F232B"/>
                </a:solidFill>
                <a:latin typeface="Courier New"/>
              </a:rPr>
              <a:t>,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B45F06"/>
                </a:solidFill>
                <a:latin typeface="Courier New"/>
              </a:rPr>
              <a:t>'Z512'</a:t>
            </a:r>
            <a:r>
              <a:rPr sz="1200">
                <a:solidFill>
                  <a:srgbClr val="1F232B"/>
                </a:solidFill>
                <a:latin typeface="Courier New"/>
              </a:rPr>
              <a:t>,</a:t>
            </a:r>
            <a:r>
              <a:rPr sz="1200">
                <a:solidFill>
                  <a:srgbClr val="1F232B"/>
                </a:solidFill>
                <a:latin typeface="Courier New"/>
              </a:rPr>
              <a:t> </a:t>
            </a:r>
            <a:r>
              <a:rPr sz="1200">
                <a:solidFill>
                  <a:srgbClr val="B45F06"/>
                </a:solidFill>
                <a:latin typeface="Courier New"/>
              </a:rPr>
              <a:t>'2009-01-03'</a:t>
            </a:r>
            <a:r>
              <a:rPr sz="1200">
                <a:solidFill>
                  <a:srgbClr val="1F232B"/>
                </a:solidFill>
                <a:latin typeface="Courier New"/>
              </a:rPr>
              <a:t>)</a:t>
            </a:r>
            <a:r>
              <a:rPr sz="12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80360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42318"/>
                </a:solidFill>
                <a:latin typeface="Courier New"/>
              </a:rPr>
              <a:t>✖  Erreur : FOREIGN KEY constraint failed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361688"/>
            <a:ext cx="10728655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À retenir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Dans SQLite, les clés étrangères ne sont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vérifiées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que si on exécute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PRAGMA foreign_keys = ON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à chaque connexion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. PostgreSQL, MySQL (InnoDB)… les vérifient toujours.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Les autres contraintes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3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669279" cy="2468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CREATE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TABLE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produit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PRIMARY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KEY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LIBELLE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UNIQUE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PRIX</a:t>
            </a: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REAL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CHECK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PRIX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&gt;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QSTOCK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INTEGER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DEFAULT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CHECK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QSTOCK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&gt;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325880"/>
          <a:ext cx="4663439" cy="30083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4769"/>
                <a:gridCol w="300867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Contrainte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Garantit que…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PRIMARY KEY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la ligne est identifiable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FOREIGN KEY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le lien pointe vers une ligne existante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NOT NULL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la valeur est renseignée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UNIQUE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pas de doublon dans la colonne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CHECK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une condition est respectée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DEFAULT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valeur si rien n'est fourni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8912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498848"/>
            <a:ext cx="10728655" cy="92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Lien avec le TP INCA / Ciqual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7B"/>
                </a:solidFill>
                <a:latin typeface="Courier New"/>
              </a:rPr>
              <a:t>CHECK (quantite_g &gt; 0)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et une clé étrangère sur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code_aliment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auraient refusé dès l'insertion les anomalies que vous détectez à la main avec pandas.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0E7C7B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Le langage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4E3"/>
                </a:solidFill>
                <a:latin typeface="Calibri"/>
              </a:rPr>
              <a:t>SELECT   ·   jointures   ·   sous-requêtes   ·   INSERT · UPDATE · DELETE   ·   agrégation   ·   NULL   ·  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SQL : Structured Query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417319" y="1737360"/>
            <a:ext cx="868680" cy="8686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Data Definition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39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Définir les structures : tables, colonnes, contraintes,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2A41"/>
                </a:solidFill>
                <a:latin typeface="Courier New"/>
              </a:rPr>
              <a:t>CREATE · ALTER · DROP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0876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206240" y="1737360"/>
            <a:ext cx="868680" cy="8686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Data Manipulation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520439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Lire et modifier les données.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70916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2A41"/>
                </a:solidFill>
                <a:latin typeface="Courier New"/>
              </a:rPr>
              <a:t>SELECT · INSERT · UPDATE · DELETE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50876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995159" y="1737360"/>
            <a:ext cx="868680" cy="8686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Transaction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520439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Regrouper des modifications en une unité sûre.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470916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2A41"/>
                </a:solidFill>
                <a:latin typeface="Courier New"/>
              </a:rPr>
              <a:t>BEGIN · COMMIT · ROLLBACK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399" y="150876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784079" y="1737360"/>
            <a:ext cx="868680" cy="8686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Data Control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79" y="3520439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Gérer les droits d'accès des utilisateurs.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470916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2A41"/>
                </a:solidFill>
                <a:latin typeface="Courier New"/>
              </a:rPr>
              <a:t>GRANT · REVOKE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3"/>
                </a:solidFill>
                <a:latin typeface="Calibri"/>
              </a:rPr>
              <a:t>SQL est </a:t>
            </a:r>
            <a:r>
              <a:rPr sz="1600" b="1" i="0">
                <a:solidFill>
                  <a:srgbClr val="5B6573"/>
                </a:solidFill>
                <a:latin typeface="Calibri"/>
              </a:rPr>
              <a:t>déclaratif</a:t>
            </a:r>
            <a:r>
              <a:rPr sz="1600" b="0" i="0">
                <a:solidFill>
                  <a:srgbClr val="5B6573"/>
                </a:solidFill>
                <a:latin typeface="Calibri"/>
              </a:rPr>
              <a:t> : on décrit </a:t>
            </a:r>
            <a:r>
              <a:rPr sz="1600" b="1" i="0">
                <a:solidFill>
                  <a:srgbClr val="5B6573"/>
                </a:solidFill>
                <a:latin typeface="Calibri"/>
              </a:rPr>
              <a:t>le résultat voulu</a:t>
            </a:r>
            <a:r>
              <a:rPr sz="1600" b="0" i="0">
                <a:solidFill>
                  <a:srgbClr val="5B6573"/>
                </a:solidFill>
                <a:latin typeface="Calibri"/>
              </a:rPr>
              <a:t>, le SGBD choisit comment le calculer.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Créer les tables : CREATE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7491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59" cy="2468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CREATE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TABLE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PRIMARY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KEY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NOM</a:t>
            </a:r>
            <a:r>
              <a:rPr sz="1500">
                <a:solidFill>
                  <a:srgbClr val="1F232B"/>
                </a:solidFill>
                <a:latin typeface="Courier New"/>
              </a:rPr>
              <a:t>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ADRESSE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CAT</a:t>
            </a:r>
            <a:r>
              <a:rPr sz="1500">
                <a:solidFill>
                  <a:srgbClr val="1F232B"/>
                </a:solidFill>
                <a:latin typeface="Courier New"/>
              </a:rPr>
              <a:t>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COMPTE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REAL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440680" cy="32918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0835640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5074920" cy="3017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CREATE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TABLE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detail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TEXT</a:t>
            </a: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QCOM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INTEGER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CHECK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QCOM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&gt;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PRIMARY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KEY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FOREIGN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KEY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REFERENCES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FOREIGN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KEY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REFERENCES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produit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clé simple :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PRIMARY KEY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sur la colonne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clé composite : clause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PRIMARY KEY (…)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séparée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400" b="1" i="0">
                <a:solidFill>
                  <a:srgbClr val="0E7C7B"/>
                </a:solidFill>
                <a:latin typeface="Courier New"/>
              </a:rPr>
              <a:t>CAT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sans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NOT NULL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valeur facultative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800600"/>
            <a:ext cx="54406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Ordre de création :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client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,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produit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,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commande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, puis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detail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Requête de sélection : SELECT … FROM …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4206240" cy="118872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639311" y="1188720"/>
            <a:ext cx="978408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Syntaxe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840479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600">
                <a:solidFill>
                  <a:srgbClr val="1F232B"/>
                </a:solidFill>
                <a:latin typeface="Courier New"/>
              </a:rPr>
              <a:t> </a:t>
            </a:r>
            <a:r>
              <a:rPr sz="1600">
                <a:solidFill>
                  <a:srgbClr val="1F232B"/>
                </a:solidFill>
                <a:latin typeface="Courier New"/>
              </a:rPr>
              <a:t>liste_colonnes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600">
                <a:solidFill>
                  <a:srgbClr val="1F232B"/>
                </a:solidFill>
                <a:latin typeface="Courier New"/>
              </a:rPr>
              <a:t>   </a:t>
            </a:r>
            <a:r>
              <a:rPr sz="1600">
                <a:solidFill>
                  <a:srgbClr val="1F232B"/>
                </a:solidFill>
                <a:latin typeface="Courier New"/>
              </a:rPr>
              <a:t>nom_table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600">
                <a:solidFill>
                  <a:srgbClr val="1F232B"/>
                </a:solidFill>
                <a:latin typeface="Courier New"/>
              </a:rPr>
              <a:t>  </a:t>
            </a:r>
            <a:r>
              <a:rPr sz="1600">
                <a:solidFill>
                  <a:srgbClr val="1F232B"/>
                </a:solidFill>
                <a:latin typeface="Courier New"/>
              </a:rPr>
              <a:t>condition</a:t>
            </a:r>
            <a:r>
              <a:rPr sz="16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4206240" cy="118872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977639" y="260604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840479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600">
                <a:solidFill>
                  <a:srgbClr val="1F232B"/>
                </a:solidFill>
                <a:latin typeface="Courier New"/>
              </a:rPr>
              <a:t> </a:t>
            </a:r>
            <a:r>
              <a:rPr sz="1600">
                <a:solidFill>
                  <a:srgbClr val="1F232B"/>
                </a:solidFill>
                <a:latin typeface="Courier New"/>
              </a:rPr>
              <a:t>NCLI</a:t>
            </a:r>
            <a:r>
              <a:rPr sz="1600">
                <a:solidFill>
                  <a:srgbClr val="1F232B"/>
                </a:solidFill>
                <a:latin typeface="Courier New"/>
              </a:rPr>
              <a:t>,</a:t>
            </a:r>
            <a:r>
              <a:rPr sz="1600">
                <a:solidFill>
                  <a:srgbClr val="1F232B"/>
                </a:solidFill>
                <a:latin typeface="Courier New"/>
              </a:rPr>
              <a:t> </a:t>
            </a:r>
            <a:r>
              <a:rPr sz="1600">
                <a:solidFill>
                  <a:srgbClr val="1F232B"/>
                </a:solidFill>
                <a:latin typeface="Courier New"/>
              </a:rPr>
              <a:t>NOM</a:t>
            </a:r>
            <a:r>
              <a:rPr sz="1600">
                <a:solidFill>
                  <a:srgbClr val="1F232B"/>
                </a:solidFill>
                <a:latin typeface="Courier New"/>
              </a:rPr>
              <a:t>,</a:t>
            </a:r>
            <a:r>
              <a:rPr sz="1600">
                <a:solidFill>
                  <a:srgbClr val="1F232B"/>
                </a:solidFill>
                <a:latin typeface="Courier New"/>
              </a:rPr>
              <a:t> </a:t>
            </a:r>
            <a:r>
              <a:rPr sz="1600">
                <a:solidFill>
                  <a:srgbClr val="1F232B"/>
                </a:solidFill>
                <a:latin typeface="Courier New"/>
              </a:rPr>
              <a:t>COMPTE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600">
                <a:solidFill>
                  <a:srgbClr val="1F232B"/>
                </a:solidFill>
                <a:latin typeface="Courier New"/>
              </a:rPr>
              <a:t>   </a:t>
            </a:r>
            <a:r>
              <a:rPr sz="16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600">
                <a:solidFill>
                  <a:srgbClr val="1F232B"/>
                </a:solidFill>
                <a:latin typeface="Courier New"/>
              </a:rPr>
              <a:t>  </a:t>
            </a:r>
            <a:r>
              <a:rPr sz="1600">
                <a:solidFill>
                  <a:srgbClr val="1F232B"/>
                </a:solidFill>
                <a:latin typeface="Courier New"/>
              </a:rPr>
              <a:t>COMPTE</a:t>
            </a:r>
            <a:r>
              <a:rPr sz="1600">
                <a:solidFill>
                  <a:srgbClr val="1F232B"/>
                </a:solidFill>
                <a:latin typeface="Courier New"/>
              </a:rPr>
              <a:t> </a:t>
            </a:r>
            <a:r>
              <a:rPr sz="1600">
                <a:solidFill>
                  <a:srgbClr val="1F232B"/>
                </a:solidFill>
                <a:latin typeface="Courier New"/>
              </a:rPr>
              <a:t>&gt;</a:t>
            </a:r>
            <a:r>
              <a:rPr sz="1600">
                <a:solidFill>
                  <a:srgbClr val="1F232B"/>
                </a:solidFill>
                <a:latin typeface="Courier New"/>
              </a:rPr>
              <a:t> </a:t>
            </a:r>
            <a:r>
              <a:rPr sz="1600">
                <a:solidFill>
                  <a:srgbClr val="1F232B"/>
                </a:solidFill>
                <a:latin typeface="Courier New"/>
              </a:rPr>
              <a:t>0</a:t>
            </a:r>
            <a:r>
              <a:rPr sz="16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4206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1" i="0">
                <a:solidFill>
                  <a:srgbClr val="0E7C7B"/>
                </a:solidFill>
                <a:latin typeface="Courier New"/>
              </a:rPr>
              <a:t>SELECT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: quelles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colonnes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?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1" i="0">
                <a:solidFill>
                  <a:srgbClr val="0E7C7B"/>
                </a:solidFill>
                <a:latin typeface="Courier New"/>
              </a:rPr>
              <a:t>FROM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: quelle(s)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table(s)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?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1" i="0">
                <a:solidFill>
                  <a:srgbClr val="0E7C7B"/>
                </a:solidFill>
                <a:latin typeface="Courier New"/>
              </a:rPr>
              <a:t>WHERE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: quelles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lignes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3258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212080" y="1618488"/>
          <a:ext cx="384048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NCLI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COMPTE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B112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HANSENNE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1250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C400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FERARD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350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K111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VANBIST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720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326880" y="1600200"/>
            <a:ext cx="228600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Opérateurs utiles :
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=  &lt;&gt;  &lt;  &gt;=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
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AND  OR  NOT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
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BETWEEN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
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IN (…)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
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LIKE 'CS%'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
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IS NULL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Interroger plusieurs tables : la jointure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400800" cy="1508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17219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035040" cy="12344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DATECOM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JOIN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'Poitiers'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258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1618488"/>
          <a:ext cx="429768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DATECOM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30179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2008-12-22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FERARD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30184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2008-12-23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FERARD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30186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2009-01-02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FERARD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06323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3"/>
                </a:solidFill>
                <a:latin typeface="Calibri"/>
              </a:rPr>
              <a:t>Ancienne syntaxe (équivalente)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 </a:t>
            </a:r>
            <a:r>
              <a:rPr sz="13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</a:t>
            </a:r>
            <a:r>
              <a:rPr sz="1300">
                <a:solidFill>
                  <a:srgbClr val="1F232B"/>
                </a:solidFill>
                <a:latin typeface="Courier New"/>
              </a:rPr>
              <a:t>,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client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</a:t>
            </a:r>
            <a:r>
              <a:rPr sz="1300">
                <a:solidFill>
                  <a:srgbClr val="1F232B"/>
                </a:solidFill>
                <a:latin typeface="Courier New"/>
              </a:rPr>
              <a:t>.</a:t>
            </a:r>
            <a:r>
              <a:rPr sz="1300">
                <a:solidFill>
                  <a:srgbClr val="1F232B"/>
                </a:solidFill>
                <a:latin typeface="Courier New"/>
              </a:rPr>
              <a:t>NCLI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=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cl</a:t>
            </a:r>
            <a:r>
              <a:rPr sz="1300">
                <a:solidFill>
                  <a:srgbClr val="1F232B"/>
                </a:solidFill>
                <a:latin typeface="Courier New"/>
              </a:rPr>
              <a:t>.</a:t>
            </a:r>
            <a:r>
              <a:rPr sz="1300">
                <a:solidFill>
                  <a:srgbClr val="1F232B"/>
                </a:solidFill>
                <a:latin typeface="Courier New"/>
              </a:rPr>
              <a:t>NCLI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AND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cl</a:t>
            </a:r>
            <a:r>
              <a:rPr sz="1300">
                <a:solidFill>
                  <a:srgbClr val="1F232B"/>
                </a:solidFill>
                <a:latin typeface="Courier New"/>
              </a:rPr>
              <a:t>.</a:t>
            </a:r>
            <a:r>
              <a:rPr sz="13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=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B45F06"/>
                </a:solidFill>
                <a:latin typeface="Courier New"/>
              </a:rPr>
              <a:t>'Poitiers'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80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636008"/>
            <a:ext cx="10728655" cy="8321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42318"/>
                </a:solidFill>
                <a:latin typeface="Calibri"/>
              </a:rPr>
              <a:t>Attention : ne pas oublier la condition de jointure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7B"/>
                </a:solidFill>
                <a:latin typeface="Courier New"/>
              </a:rPr>
              <a:t>FROM commande, client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sans condition associe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chaque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commande à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chaque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client : 7 × 16 =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112 lignes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(produit cartésien).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Jointure externe : LEFT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035040" cy="1508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3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669279" cy="12344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LEFT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JOIN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ORDER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BY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258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618488"/>
          <a:ext cx="4663440" cy="44302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554480"/>
                <a:gridCol w="1554480"/>
              </a:tblGrid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NCLI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B062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GOFFIN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B112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HANSENNE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B332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MONTI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B512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GILLET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30188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C003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AVRON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C123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MERCIER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FERARD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30179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C400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FERARD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30184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FERARD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30186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D063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MERCIER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F010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TOUSSAINT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F011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PONCELET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30185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F400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JACOB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K111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VANBIST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30178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K729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NEUMAN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L422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FRANCK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S127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VANDERKA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30182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S712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GUILLAUME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5B657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73152" marR="73152" marT="18288" marB="18288" anchor="ctr">
                    <a:solidFill>
                      <a:srgbClr val="E3F1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063239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E7C7B"/>
                </a:solidFill>
                <a:latin typeface="Calibri"/>
              </a:rPr>
              <a:t>Clients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sans</a:t>
            </a:r>
            <a:r>
              <a:rPr sz="1600" b="0" i="0">
                <a:solidFill>
                  <a:srgbClr val="0E7C7B"/>
                </a:solidFill>
                <a:latin typeface="Calibri"/>
              </a:rPr>
              <a:t> commande (anti-jointure)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6035040" cy="1508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806439" y="333756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669279" cy="12344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LEFT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JOIN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c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→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11 clients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n'ont passé aucune commande (lignes surlignées).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Sous-requête : IN (SELECT …)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17219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DATECOM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  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  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'Poitiers'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258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1618488"/>
          <a:ext cx="429768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4884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DATECOM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30179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2008-12-22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30184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2008-12-23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30186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2009-01-02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429000"/>
            <a:ext cx="64008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la sous-requête produit une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liste de valeurs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(les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NCLI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de Poitiers)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la requête principale garde les commandes dont le </a:t>
            </a:r>
            <a:r>
              <a:rPr sz="1500" b="1" i="0">
                <a:solidFill>
                  <a:srgbClr val="0E7C7B"/>
                </a:solidFill>
                <a:latin typeface="Courier New"/>
              </a:rPr>
              <a:t>NCLI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est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dans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cette liste</a:t>
            </a:r>
          </a:p>
          <a:p>
            <a:pPr algn="l" marL="256032" indent="-219456">
              <a:spcAft>
                <a:spcPts val="6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se lit de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l'intérieur vers l'extérieur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5138928"/>
            <a:ext cx="10728655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⚠ Une chaîne SQL est comparée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exactement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'Namur '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(avec espace) ≠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'Namur'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Sous-requête ou jointure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Produits commandés par des clients de Toulouse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846320" cy="21488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078223" y="1554480"/>
            <a:ext cx="1179576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Imbriquée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480559" cy="1874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NPRO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detail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NCOM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IN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NCOM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commande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IN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B45F06"/>
                </a:solidFill>
                <a:latin typeface="Courier New"/>
              </a:rPr>
              <a:t>'Toulouse'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91640"/>
            <a:ext cx="4846320" cy="21488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208007" y="1554480"/>
            <a:ext cx="1078992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Jointure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74520"/>
            <a:ext cx="4480559" cy="1874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DISTINCT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d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NPRO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detail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JOIN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d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JOIN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client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</a:t>
            </a:r>
            <a:r>
              <a:rPr sz="1400">
                <a:solidFill>
                  <a:srgbClr val="1F232B"/>
                </a:solidFill>
                <a:latin typeface="Courier New"/>
              </a:rPr>
              <a:t>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B45F06"/>
                </a:solidFill>
                <a:latin typeface="Courier New"/>
              </a:rPr>
              <a:t>'Toulouse'</a:t>
            </a:r>
            <a:r>
              <a:rPr sz="14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607040" y="1691640"/>
          <a:ext cx="1005840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NPRO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CS464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PA60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PS222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PA45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PH222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114800"/>
            <a:ext cx="9875520" cy="1463040"/>
          </a:xfrm>
          <a:prstGeom prst="roundRect">
            <a:avLst>
              <a:gd name="adj" fmla="val 8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950976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7B34"/>
                </a:solidFill>
                <a:latin typeface="Calibri"/>
              </a:rPr>
              <a:t>Même résultat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la jointure permet d'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afficher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des colonnes des autres tables (nom du client, date…)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la version imbriquée suit le raisonnement pas à pas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jointure :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DISTINCT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pour éviter les doublons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NOT IN ≠ jointure avec &lt;&gt;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3"/>
                </a:solidFill>
                <a:latin typeface="Calibri"/>
              </a:rPr>
              <a:t>Commandes qui ne contiennent </a:t>
            </a:r>
            <a:r>
              <a:rPr sz="1600" b="1" i="0">
                <a:solidFill>
                  <a:srgbClr val="5B6573"/>
                </a:solidFill>
                <a:latin typeface="Calibri"/>
              </a:rPr>
              <a:t>pas</a:t>
            </a:r>
            <a:r>
              <a:rPr sz="1600" b="0" i="0">
                <a:solidFill>
                  <a:srgbClr val="5B6573"/>
                </a:solidFill>
                <a:latin typeface="Calibri"/>
              </a:rPr>
              <a:t> le produit PA60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572000" cy="16002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105655" y="1554480"/>
            <a:ext cx="877824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20624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commande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NOT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IN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(</a:t>
            </a:r>
            <a:r>
              <a:rPr sz="13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1F232B"/>
                </a:solidFill>
                <a:latin typeface="Courier New"/>
              </a:rPr>
              <a:t>                  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detail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1F232B"/>
                </a:solidFill>
                <a:latin typeface="Courier New"/>
              </a:rPr>
              <a:t>                  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NPRO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=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B45F06"/>
                </a:solidFill>
                <a:latin typeface="Courier New"/>
              </a:rPr>
              <a:t>'PA60'</a:t>
            </a:r>
            <a:r>
              <a:rPr sz="1300">
                <a:solidFill>
                  <a:srgbClr val="1F232B"/>
                </a:solidFill>
                <a:latin typeface="Courier New"/>
              </a:rPr>
              <a:t>)</a:t>
            </a:r>
            <a:r>
              <a:rPr sz="13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57800" y="1691640"/>
          <a:ext cx="914400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30178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30184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30186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1691640"/>
            <a:ext cx="4343400" cy="16002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9738360" y="155448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&lt;&gt;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3977639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DISTINCT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</a:t>
            </a:r>
            <a:r>
              <a:rPr sz="1300">
                <a:solidFill>
                  <a:srgbClr val="1F232B"/>
                </a:solidFill>
                <a:latin typeface="Courier New"/>
              </a:rPr>
              <a:t>.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JOIN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detail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d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d</a:t>
            </a:r>
            <a:r>
              <a:rPr sz="1300">
                <a:solidFill>
                  <a:srgbClr val="1F232B"/>
                </a:solidFill>
                <a:latin typeface="Courier New"/>
              </a:rPr>
              <a:t>.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=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</a:t>
            </a:r>
            <a:r>
              <a:rPr sz="1300">
                <a:solidFill>
                  <a:srgbClr val="1F232B"/>
                </a:solidFill>
                <a:latin typeface="Courier New"/>
              </a:rPr>
              <a:t>.</a:t>
            </a:r>
            <a:r>
              <a:rPr sz="1300">
                <a:solidFill>
                  <a:srgbClr val="1F232B"/>
                </a:solidFill>
                <a:latin typeface="Courier New"/>
              </a:rPr>
              <a:t>NCOM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d</a:t>
            </a:r>
            <a:r>
              <a:rPr sz="1300">
                <a:solidFill>
                  <a:srgbClr val="1F232B"/>
                </a:solidFill>
                <a:latin typeface="Courier New"/>
              </a:rPr>
              <a:t>.</a:t>
            </a:r>
            <a:r>
              <a:rPr sz="1300">
                <a:solidFill>
                  <a:srgbClr val="1F232B"/>
                </a:solidFill>
                <a:latin typeface="Courier New"/>
              </a:rPr>
              <a:t>NPRO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&lt;</a:t>
            </a:r>
            <a:r>
              <a:rPr sz="1300">
                <a:solidFill>
                  <a:srgbClr val="1F232B"/>
                </a:solidFill>
                <a:latin typeface="Courier New"/>
              </a:rPr>
              <a:t>&gt;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B45F06"/>
                </a:solidFill>
                <a:latin typeface="Courier New"/>
              </a:rPr>
              <a:t>'PA60'</a:t>
            </a:r>
            <a:r>
              <a:rPr sz="13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652760" y="1691640"/>
          <a:ext cx="96012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NCOM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30178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30179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30184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30185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30186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30188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34747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7B34"/>
                </a:solidFill>
                <a:latin typeface="Calibri"/>
              </a:rPr>
              <a:t>✔ 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474720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✖ faux : « contient </a:t>
            </a:r>
            <a:r>
              <a:rPr sz="1500" b="1" i="0">
                <a:solidFill>
                  <a:srgbClr val="B42318"/>
                </a:solidFill>
                <a:latin typeface="Calibri"/>
              </a:rPr>
              <a:t>au moins un</a:t>
            </a:r>
            <a:r>
              <a:rPr sz="1500" b="1" i="0">
                <a:solidFill>
                  <a:srgbClr val="B42318"/>
                </a:solidFill>
                <a:latin typeface="Calibri"/>
              </a:rPr>
              <a:t> produit autre que PA60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590288"/>
            <a:ext cx="10728655" cy="92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Écritures correctes équivalentes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7C7B"/>
                </a:solidFill>
                <a:latin typeface="Courier New"/>
              </a:rPr>
              <a:t>WHERE NOT EXISTS (SELECT * FROM detail d WHERE d.NCOM = c.NCOM AND d.NPRO = 'PA60')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ou une anti-jointure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LEFT JOIN … WHERE … IS NULL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Ajouter des lignes : INSERT INTO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919471" y="1188720"/>
            <a:ext cx="978408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Syntaxe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nom_table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liste_colonnes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liste_valeurs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39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257799" y="2240279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120640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detail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NPRO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QCOM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B45F06"/>
                </a:solidFill>
                <a:latin typeface="Courier New"/>
              </a:rPr>
              <a:t>'30185'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'PA45'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1</a:t>
            </a:r>
            <a:r>
              <a:rPr sz="1500">
                <a:solidFill>
                  <a:srgbClr val="1F232B"/>
                </a:solidFill>
                <a:latin typeface="Courier New"/>
              </a:rPr>
              <a:t>2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B34"/>
                </a:solidFill>
                <a:latin typeface="Courier New"/>
              </a:rPr>
              <a:t>✔  OK — 1 ligne(s) affectée(s)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35640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4937759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INSERT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INTO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NOM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ADRESSE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COMPTE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VALUES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B45F06"/>
                </a:solidFill>
                <a:latin typeface="Courier New"/>
              </a:rPr>
              <a:t>'F422'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'FRANCK'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B45F06"/>
                </a:solidFill>
                <a:latin typeface="Courier New"/>
              </a:rPr>
              <a:t>'14, av. du Reclus'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'Lille'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63239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3063239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B34"/>
                </a:solidFill>
                <a:latin typeface="Courier New"/>
              </a:rPr>
              <a:t>✔  OK — 1 ligne(s) affectée(s)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94415" cy="14630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270248"/>
            <a:ext cx="10728655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Attention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les valeurs insérées doivent respecter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toutes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les contraintes (clés,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NOT NULL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CHECK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)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une colonne omise reçoit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NULL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ou sa valeur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DEFAULT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(ici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CAT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)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nombres sans guillemets ; chaînes entre apostrophes droites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'…'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Modifier des lignes : UPDATE …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035040" cy="118872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3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669279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UPDATE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produit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SET</a:t>
            </a: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>
                <a:solidFill>
                  <a:srgbClr val="1F232B"/>
                </a:solidFill>
                <a:latin typeface="Courier New"/>
              </a:rPr>
              <a:t>PRIX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ROUND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PRIX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1</a:t>
            </a:r>
            <a:r>
              <a:rPr sz="1500">
                <a:solidFill>
                  <a:srgbClr val="1F232B"/>
                </a:solidFill>
                <a:latin typeface="Courier New"/>
              </a:rPr>
              <a:t>.</a:t>
            </a:r>
            <a:r>
              <a:rPr sz="1500">
                <a:solidFill>
                  <a:srgbClr val="1F232B"/>
                </a:solidFill>
                <a:latin typeface="Courier New"/>
              </a:rPr>
              <a:t>0</a:t>
            </a:r>
            <a:r>
              <a:rPr sz="1500">
                <a:solidFill>
                  <a:srgbClr val="1F232B"/>
                </a:solidFill>
                <a:latin typeface="Courier New"/>
              </a:rPr>
              <a:t>5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2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LIBELLE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LIKE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'%SAPIN%'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603504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B34"/>
                </a:solidFill>
                <a:latin typeface="Courier New"/>
              </a:rPr>
              <a:t>✔  OK — 4 ligne(s) affectée(s)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3258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3"/>
                </a:solidFill>
                <a:latin typeface="Calibri"/>
              </a:rPr>
              <a:t>Avant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49440" y="1600200"/>
          <a:ext cx="466344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36320"/>
                <a:gridCol w="2590800"/>
                <a:gridCol w="10363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NPRO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LIBELLE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PRIX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CS262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CHEV. SAPIN 200x6x2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75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CS264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CHEV. SAPIN 200x6x4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120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CS464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CHEV. SAPIN 400x6x4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220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PS222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PL. SAPIN 200x20x2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185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949440" y="3108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3"/>
                </a:solidFill>
                <a:latin typeface="Calibri"/>
              </a:rPr>
              <a:t>Après (+5 %)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49440" y="3383280"/>
          <a:ext cx="466344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36320"/>
                <a:gridCol w="2590800"/>
                <a:gridCol w="10363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NPRO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LIBELLE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PRIX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CS262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CHEV. SAPIN 200x6x2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78.75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CS264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CHEV. SAPIN 200x6x4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126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CS464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CHEV. SAPIN 400x6x4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231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PS222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PL. SAPIN 200x20x2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B"/>
                          </a:solidFill>
                          <a:latin typeface="Courier New"/>
                        </a:rPr>
                        <a:t>194.25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3566160"/>
            <a:ext cx="6035040" cy="150876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3675888"/>
            <a:ext cx="5669279" cy="1289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Sans WHERE, toutes les lignes sont modifiées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Toujours tester d'abord la condition avec un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SELECT … WHERE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identique, puis lancer l'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UPDATE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Supprimer des lignes : DELETE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919471" y="1188720"/>
            <a:ext cx="978408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Syntaxe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DELETE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nom_table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condition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39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257799" y="2240279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120640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DELETE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detail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'30184'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5486400" cy="566928"/>
          </a:xfrm>
          <a:prstGeom prst="roundRect">
            <a:avLst>
              <a:gd name="adj" fmla="val 12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B34"/>
                </a:solidFill>
                <a:latin typeface="Courier New"/>
              </a:rPr>
              <a:t>✔  OK — 2 ligne(s) affectée(s)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303520" cy="8686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35640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4937759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DELETE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NOM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'MERCIER'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30352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Deux clients s'appellent MERCIER (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C123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D063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) : les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deux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seraient supprimés.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270248"/>
            <a:ext cx="10728655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Bonnes pratiques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cibler les lignes par leur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clé primaire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WHERE NCLI = 'C123'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vérifier d'abord avec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; respecter les contraintes d'intégrité (enfants d'abord)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Fonctions d'agrégation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035040" cy="118872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3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669279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     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nb_commandes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 b="1">
                <a:solidFill>
                  <a:srgbClr val="0E7C7B"/>
                </a:solidFill>
                <a:latin typeface="Courier New"/>
              </a:rPr>
              <a:t>DISTINCT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nb_clients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258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618488"/>
          <a:ext cx="4023360" cy="7680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nb_commandes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nb_clients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2743200"/>
            <a:ext cx="6035040" cy="118872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806439" y="260604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669279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SUM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QSTOCK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PRIX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valeur_stock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produit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500">
                <a:solidFill>
                  <a:srgbClr val="1F232B"/>
                </a:solidFill>
                <a:latin typeface="Courier New"/>
              </a:rPr>
              <a:t>  </a:t>
            </a:r>
            <a:r>
              <a:rPr sz="1500">
                <a:solidFill>
                  <a:srgbClr val="1F232B"/>
                </a:solidFill>
                <a:latin typeface="Courier New"/>
              </a:rPr>
              <a:t>LIBELLE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LIKE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B45F06"/>
                </a:solidFill>
                <a:latin typeface="Courier New"/>
              </a:rPr>
              <a:t>'%SAPIN%'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7432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949440" y="3035808"/>
          <a:ext cx="4023360" cy="7680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233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valeur_stock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F232B"/>
                          </a:solidFill>
                          <a:latin typeface="Courier New"/>
                        </a:rPr>
                        <a:t>650875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4160520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7C7B"/>
                </a:solidFill>
                <a:latin typeface="Courier New"/>
              </a:rPr>
              <a:t>COUNT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   </a:t>
            </a:r>
            <a:r>
              <a:rPr sz="1700" b="1" i="0">
                <a:solidFill>
                  <a:srgbClr val="0E7C7B"/>
                </a:solidFill>
                <a:latin typeface="Courier New"/>
              </a:rPr>
              <a:t>SUM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   </a:t>
            </a:r>
            <a:r>
              <a:rPr sz="1700" b="1" i="0">
                <a:solidFill>
                  <a:srgbClr val="0E7C7B"/>
                </a:solidFill>
                <a:latin typeface="Courier New"/>
              </a:rPr>
              <a:t>AVG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   </a:t>
            </a:r>
            <a:r>
              <a:rPr sz="1700" b="1" i="0">
                <a:solidFill>
                  <a:srgbClr val="0E7C7B"/>
                </a:solidFill>
                <a:latin typeface="Courier New"/>
              </a:rPr>
              <a:t>MIN</a:t>
            </a:r>
            <a:r>
              <a:rPr sz="1800" b="1" i="0">
                <a:solidFill>
                  <a:srgbClr val="1F232B"/>
                </a:solidFill>
                <a:latin typeface="Calibri"/>
              </a:rPr>
              <a:t>   </a:t>
            </a:r>
            <a:r>
              <a:rPr sz="1700" b="1" i="0">
                <a:solidFill>
                  <a:srgbClr val="0E7C7B"/>
                </a:solidFill>
                <a:latin typeface="Courier New"/>
              </a:rPr>
              <a:t>MAX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1094415" cy="96012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773168"/>
            <a:ext cx="10728655" cy="7406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Une fonction d'agrégation donne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une seule valeur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pour l'ensemble des lignes sélectionnées : on sélectionne d'abord les lignes (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WHERE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), puis on agrège.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Les données groupées : GROUP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32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956981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0" y="1325880"/>
            <a:ext cx="6858000" cy="17373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835640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508760"/>
            <a:ext cx="6492240" cy="14630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nb_clients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AVG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COMPTE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moyenne_compte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GROUP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BY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3200400"/>
          <a:ext cx="5120638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86551"/>
                <a:gridCol w="1347536"/>
                <a:gridCol w="1886551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LOCALITE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nb_clients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moyenne_compte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Bruxelles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Genève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Lille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720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Namur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-2520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Paris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Poitiers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533.33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Toulouse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32B"/>
                          </a:solidFill>
                          <a:latin typeface="Courier New"/>
                        </a:rPr>
                        <a:t>-2530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0" y="3337560"/>
            <a:ext cx="164592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split
↓
apply
↓
combine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Sélectionner des groupes : HAVING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400800" cy="1508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17219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035040" cy="12344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nb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AVG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COMPTE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moy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GROUP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BY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LOCALITE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HAVING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&gt;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3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325880"/>
          <a:ext cx="429768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LOCALITE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moy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Namur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-2520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Poitiers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533.33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Toulouse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-2530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063239"/>
            <a:ext cx="6400800" cy="1508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72199" y="2926079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6035040" cy="12344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,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nb_commandes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500">
                <a:solidFill>
                  <a:srgbClr val="1F232B"/>
                </a:solidFill>
                <a:latin typeface="Courier New"/>
              </a:rPr>
              <a:t>  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GROUP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BY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HAVING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*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&gt;</a:t>
            </a:r>
            <a:r>
              <a:rPr sz="1500">
                <a:solidFill>
                  <a:srgbClr val="1F232B"/>
                </a:solidFill>
                <a:latin typeface="Courier New"/>
              </a:rPr>
              <a:t>=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2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0" y="3063239"/>
          <a:ext cx="4297680" cy="731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NCLI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nb_commandes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C400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800600"/>
          <a:ext cx="11094415" cy="8778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18883"/>
                <a:gridCol w="4437766"/>
                <a:gridCol w="4437766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HAVING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Filtre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les lignes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les groupes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Moment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avant GROUP BY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après GROUP BY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Comment lire (et écrire) une requête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7680960" cy="23774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452360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7315200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400">
                <a:solidFill>
                  <a:srgbClr val="1F232B"/>
                </a:solidFill>
                <a:latin typeface="Courier New"/>
              </a:rPr>
              <a:t>  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,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1F232B"/>
                </a:solidFill>
                <a:latin typeface="Courier New"/>
              </a:rPr>
              <a:t>*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nb</a:t>
            </a:r>
            <a:r>
              <a:rPr sz="1400">
                <a:solidFill>
                  <a:srgbClr val="1F232B"/>
                </a:solidFill>
                <a:latin typeface="Courier New"/>
              </a:rPr>
              <a:t>,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SUM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1F232B"/>
                </a:solidFill>
                <a:latin typeface="Courier New"/>
              </a:rPr>
              <a:t>QCOM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qte</a:t>
            </a:r>
            <a:r>
              <a:rPr sz="1400">
                <a:solidFill>
                  <a:srgbClr val="1F232B"/>
                </a:solidFill>
                <a:latin typeface="Courier New"/>
              </a:rPr>
              <a:t>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-- 5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400">
                <a:solidFill>
                  <a:srgbClr val="1F232B"/>
                </a:solidFill>
                <a:latin typeface="Courier New"/>
              </a:rPr>
              <a:t>     </a:t>
            </a:r>
            <a:r>
              <a:rPr sz="14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                              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JOIN</a:t>
            </a:r>
            <a:r>
              <a:rPr sz="1400">
                <a:solidFill>
                  <a:srgbClr val="1F232B"/>
                </a:solidFill>
                <a:latin typeface="Courier New"/>
              </a:rPr>
              <a:t>     </a:t>
            </a:r>
            <a:r>
              <a:rPr sz="1400">
                <a:solidFill>
                  <a:srgbClr val="1F232B"/>
                </a:solidFill>
                <a:latin typeface="Courier New"/>
              </a:rPr>
              <a:t>detail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d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d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NCOM</a:t>
            </a:r>
            <a:r>
              <a:rPr sz="1400">
                <a:solidFill>
                  <a:srgbClr val="1F232B"/>
                </a:solidFill>
                <a:latin typeface="Courier New"/>
              </a:rPr>
              <a:t>             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   </a:t>
            </a:r>
            <a:r>
              <a:rPr sz="1400">
                <a:solidFill>
                  <a:srgbClr val="1F232B"/>
                </a:solidFill>
                <a:latin typeface="Courier New"/>
              </a:rPr>
              <a:t>d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NPRO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LIKE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B45F06"/>
                </a:solidFill>
                <a:latin typeface="Courier New"/>
              </a:rPr>
              <a:t>'PA%'</a:t>
            </a:r>
            <a:r>
              <a:rPr sz="1400">
                <a:solidFill>
                  <a:srgbClr val="1F232B"/>
                </a:solidFill>
                <a:latin typeface="Courier New"/>
              </a:rPr>
              <a:t>                       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-- 2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GROUP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BY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                                  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HAVING</a:t>
            </a:r>
            <a:r>
              <a:rPr sz="1400">
                <a:solidFill>
                  <a:srgbClr val="1F232B"/>
                </a:solidFill>
                <a:latin typeface="Courier New"/>
              </a:rPr>
              <a:t> 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1F232B"/>
                </a:solidFill>
                <a:latin typeface="Courier New"/>
              </a:rPr>
              <a:t>*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&gt;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2</a:t>
            </a:r>
            <a:r>
              <a:rPr sz="1400">
                <a:solidFill>
                  <a:srgbClr val="1F232B"/>
                </a:solidFill>
                <a:latin typeface="Courier New"/>
              </a:rPr>
              <a:t>                           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-- 4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ORDER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BY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;</a:t>
            </a:r>
            <a:r>
              <a:rPr sz="1400">
                <a:solidFill>
                  <a:srgbClr val="1F232B"/>
                </a:solidFill>
                <a:latin typeface="Courier New"/>
              </a:rPr>
              <a:t>                                 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3258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Résultat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95360" y="1618488"/>
          <a:ext cx="3017520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NCLI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B512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92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C400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43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16052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43000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FROM / JOIN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4572000"/>
            <a:ext cx="192024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416052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017520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389120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WHERE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87368" y="4572000"/>
            <a:ext cx="192024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97679" y="416052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892040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4389120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GROUP BY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61888" y="4572000"/>
            <a:ext cx="192023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72199" y="416052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766559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4389120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HAVING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6407" y="4572000"/>
            <a:ext cx="192024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46719" y="416052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641080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389120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SELECT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10928" y="4572000"/>
            <a:ext cx="192023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21240" y="416052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0515600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4389120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ORDER 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Ordre d'</a:t>
            </a:r>
            <a:r>
              <a:rPr sz="1500" b="1" i="0">
                <a:solidFill>
                  <a:srgbClr val="5B6573"/>
                </a:solidFill>
                <a:latin typeface="Calibri"/>
              </a:rPr>
              <a:t>évaluation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 logique (≠ ordre d'écriture) : les numéros en commentaire correspondent aux étapes.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La valeur NULL : « inconnu », pas zéro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400800" cy="5943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300">
                <a:solidFill>
                  <a:srgbClr val="1F232B"/>
                </a:solidFill>
                <a:latin typeface="Courier New"/>
              </a:rPr>
              <a:t>(</a:t>
            </a:r>
            <a:r>
              <a:rPr sz="1300">
                <a:solidFill>
                  <a:srgbClr val="1F232B"/>
                </a:solidFill>
                <a:latin typeface="Courier New"/>
              </a:rPr>
              <a:t>*</a:t>
            </a:r>
            <a:r>
              <a:rPr sz="1300">
                <a:solidFill>
                  <a:srgbClr val="1F232B"/>
                </a:solidFill>
                <a:latin typeface="Courier New"/>
              </a:rPr>
              <a:t>)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client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CAT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=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3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325880"/>
            <a:ext cx="1188720" cy="5943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86600" y="1325880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232B"/>
                </a:solidFill>
                <a:latin typeface="Courier New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32588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✖ toujours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6400800" cy="5943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300">
                <a:solidFill>
                  <a:srgbClr val="1F232B"/>
                </a:solidFill>
                <a:latin typeface="Courier New"/>
              </a:rPr>
              <a:t>(</a:t>
            </a:r>
            <a:r>
              <a:rPr sz="1300">
                <a:solidFill>
                  <a:srgbClr val="1F232B"/>
                </a:solidFill>
                <a:latin typeface="Courier New"/>
              </a:rPr>
              <a:t>*</a:t>
            </a:r>
            <a:r>
              <a:rPr sz="1300">
                <a:solidFill>
                  <a:srgbClr val="1F232B"/>
                </a:solidFill>
                <a:latin typeface="Courier New"/>
              </a:rPr>
              <a:t>)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client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CAT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IS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NULL</a:t>
            </a:r>
            <a:r>
              <a:rPr sz="13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286000"/>
            <a:ext cx="1188720" cy="5943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86600" y="2286000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232B"/>
                </a:solidFill>
                <a:latin typeface="Courier New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28600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7B34"/>
                </a:solidFill>
                <a:latin typeface="Calibri"/>
              </a:rPr>
              <a:t>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6400800" cy="5943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E7C7B"/>
                </a:solidFill>
                <a:latin typeface="Courier New"/>
              </a:rPr>
              <a:t>SELECT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300">
                <a:solidFill>
                  <a:srgbClr val="1F232B"/>
                </a:solidFill>
                <a:latin typeface="Courier New"/>
              </a:rPr>
              <a:t>(</a:t>
            </a:r>
            <a:r>
              <a:rPr sz="1300">
                <a:solidFill>
                  <a:srgbClr val="1F232B"/>
                </a:solidFill>
                <a:latin typeface="Courier New"/>
              </a:rPr>
              <a:t>*</a:t>
            </a:r>
            <a:r>
              <a:rPr sz="1300">
                <a:solidFill>
                  <a:srgbClr val="1F232B"/>
                </a:solidFill>
                <a:latin typeface="Courier New"/>
              </a:rPr>
              <a:t>)</a:t>
            </a:r>
            <a:r>
              <a:rPr sz="1300">
                <a:solidFill>
                  <a:srgbClr val="1F232B"/>
                </a:solidFill>
                <a:latin typeface="Courier New"/>
              </a:rPr>
              <a:t>,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COUNT</a:t>
            </a:r>
            <a:r>
              <a:rPr sz="1300">
                <a:solidFill>
                  <a:srgbClr val="1F232B"/>
                </a:solidFill>
                <a:latin typeface="Courier New"/>
              </a:rPr>
              <a:t>(</a:t>
            </a:r>
            <a:r>
              <a:rPr sz="1300">
                <a:solidFill>
                  <a:srgbClr val="1F232B"/>
                </a:solidFill>
                <a:latin typeface="Courier New"/>
              </a:rPr>
              <a:t>CAT</a:t>
            </a:r>
            <a:r>
              <a:rPr sz="1300">
                <a:solidFill>
                  <a:srgbClr val="1F232B"/>
                </a:solidFill>
                <a:latin typeface="Courier New"/>
              </a:rPr>
              <a:t>)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 b="1">
                <a:solidFill>
                  <a:srgbClr val="0E7C7B"/>
                </a:solidFill>
                <a:latin typeface="Courier New"/>
              </a:rPr>
              <a:t>FROM</a:t>
            </a:r>
            <a:r>
              <a:rPr sz="1300">
                <a:solidFill>
                  <a:srgbClr val="1F232B"/>
                </a:solidFill>
                <a:latin typeface="Courier New"/>
              </a:rPr>
              <a:t> </a:t>
            </a:r>
            <a:r>
              <a:rPr sz="1300">
                <a:solidFill>
                  <a:srgbClr val="1F232B"/>
                </a:solidFill>
                <a:latin typeface="Courier New"/>
              </a:rPr>
              <a:t>client</a:t>
            </a:r>
            <a:r>
              <a:rPr sz="13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246120"/>
            <a:ext cx="1188720" cy="5943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86600" y="3246120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232B"/>
                </a:solidFill>
                <a:latin typeface="Courier New"/>
              </a:rPr>
              <a:t>16 /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B6573"/>
                </a:solidFill>
                <a:latin typeface="Calibri"/>
              </a:rPr>
              <a:t>COUNT(col) ignore 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11094415" cy="128016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453128"/>
            <a:ext cx="10728655" cy="1060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À retenir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500" b="0" i="0">
                <a:solidFill>
                  <a:srgbClr val="1F232B"/>
                </a:solidFill>
                <a:latin typeface="Calibri"/>
              </a:rPr>
              <a:t>tester avec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IS NULL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/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IS NOT NULL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jamais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= NULL</a:t>
            </a:r>
          </a:p>
          <a:p>
            <a:pPr algn="l" marL="256032" indent="-219456">
              <a:spcAft>
                <a:spcPts val="400"/>
              </a:spcAft>
              <a:buClr>
                <a:srgbClr val="0E7C7B"/>
              </a:buClr>
              <a:buFont typeface="Arial"/>
              <a:buChar char="•"/>
            </a:pPr>
            <a:r>
              <a:rPr sz="1400" b="1" i="0">
                <a:solidFill>
                  <a:srgbClr val="0E7C7B"/>
                </a:solidFill>
                <a:latin typeface="Courier New"/>
              </a:rPr>
              <a:t>SUM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AVG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,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COUNT(col)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ignorent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les NULL — comme pandas ignore les </a:t>
            </a:r>
            <a:r>
              <a:rPr sz="1400" b="1" i="0">
                <a:solidFill>
                  <a:srgbClr val="0E7C7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Transactions : tout ou rien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852160" cy="23774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62355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BEGIN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TRANSACTION</a:t>
            </a:r>
            <a:r>
              <a:rPr sz="1400">
                <a:solidFill>
                  <a:srgbClr val="1F232B"/>
                </a:solidFill>
                <a:latin typeface="Courier New"/>
              </a:rPr>
              <a:t>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UPDATE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client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SET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COMPTE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COMPTE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-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5</a:t>
            </a:r>
            <a:r>
              <a:rPr sz="1400">
                <a:solidFill>
                  <a:srgbClr val="1F232B"/>
                </a:solidFill>
                <a:latin typeface="Courier New"/>
              </a:rPr>
              <a:t>0</a:t>
            </a:r>
            <a:r>
              <a:rPr sz="1400">
                <a:solidFill>
                  <a:srgbClr val="1F232B"/>
                </a:solidFill>
                <a:latin typeface="Courier New"/>
              </a:rPr>
              <a:t>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B45F06"/>
                </a:solidFill>
                <a:latin typeface="Courier New"/>
              </a:rPr>
              <a:t>'B112'</a:t>
            </a:r>
            <a:r>
              <a:rPr sz="1400">
                <a:solidFill>
                  <a:srgbClr val="1F232B"/>
                </a:solidFill>
                <a:latin typeface="Courier New"/>
              </a:rPr>
              <a:t>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UPDATE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client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SET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COMPTE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COMPTE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+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5</a:t>
            </a:r>
            <a:r>
              <a:rPr sz="1400">
                <a:solidFill>
                  <a:srgbClr val="1F232B"/>
                </a:solidFill>
                <a:latin typeface="Courier New"/>
              </a:rPr>
              <a:t>0</a:t>
            </a:r>
            <a:r>
              <a:rPr sz="1400">
                <a:solidFill>
                  <a:srgbClr val="1F232B"/>
                </a:solidFill>
                <a:latin typeface="Courier New"/>
              </a:rPr>
              <a:t>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NCLI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B45F06"/>
                </a:solidFill>
                <a:latin typeface="Courier New"/>
              </a:rPr>
              <a:t>'C400'</a:t>
            </a:r>
            <a:r>
              <a:rPr sz="1400">
                <a:solidFill>
                  <a:srgbClr val="1F232B"/>
                </a:solidFill>
                <a:latin typeface="Courier New"/>
              </a:rPr>
              <a:t>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COMMIT</a:t>
            </a:r>
            <a:r>
              <a:rPr sz="1400">
                <a:solidFill>
                  <a:srgbClr val="1F232B"/>
                </a:solidFill>
                <a:latin typeface="Courier New"/>
              </a:rPr>
              <a:t>;</a:t>
            </a:r>
            <a:r>
              <a:rPr sz="1400">
                <a:solidFill>
                  <a:srgbClr val="1F232B"/>
                </a:solidFill>
                <a:latin typeface="Courier New"/>
              </a:rPr>
              <a:t>      </a:t>
            </a:r>
            <a:r>
              <a:rPr sz="1400" i="1">
                <a:solidFill>
                  <a:srgbClr val="5B6573"/>
                </a:solidFill>
                <a:latin typeface="Courier New"/>
              </a:rPr>
              <a:t>-- ou ROLLBACK; en cas d'erreur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32B"/>
                </a:solidFill>
                <a:latin typeface="Calibri"/>
              </a:rPr>
              <a:t>Les deux mises à jour sont appliquées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ensemble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ou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pas du tout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: jamais d'argent « perdu » entre les deux.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1371600"/>
            <a:ext cx="640080" cy="6400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3258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Atomicité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0992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tout ou rien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395728"/>
            <a:ext cx="640080" cy="6400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5000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Cohérence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34056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les contraintes restent vraies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3419856"/>
            <a:ext cx="640080" cy="6400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374136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758184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les transactions concurrentes ne se gênent pas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4443984"/>
            <a:ext cx="640080" cy="6400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39826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Durabilité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8231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une fois validé, c'est conservé (même après une panne)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0E7C7B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SQL depuis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4E3"/>
                </a:solidFill>
                <a:latin typeface="Calibri"/>
              </a:rPr>
              <a:t>sqlite3   ·   pandas.read_sql   ·   SQL ↔ pandas   ·  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Interroger une base SQLite depuis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766560" cy="3977639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300216" y="1188720"/>
            <a:ext cx="877824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400800" cy="3703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import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s</a:t>
            </a:r>
            <a:r>
              <a:rPr sz="1400">
                <a:solidFill>
                  <a:srgbClr val="1F232B"/>
                </a:solidFill>
                <a:latin typeface="Courier New"/>
              </a:rPr>
              <a:t>q</a:t>
            </a:r>
            <a:r>
              <a:rPr sz="1400">
                <a:solidFill>
                  <a:srgbClr val="1F232B"/>
                </a:solidFill>
                <a:latin typeface="Courier New"/>
              </a:rPr>
              <a:t>l</a:t>
            </a:r>
            <a:r>
              <a:rPr sz="1400">
                <a:solidFill>
                  <a:srgbClr val="1F232B"/>
                </a:solidFill>
                <a:latin typeface="Courier New"/>
              </a:rPr>
              <a:t>i</a:t>
            </a:r>
            <a:r>
              <a:rPr sz="1400">
                <a:solidFill>
                  <a:srgbClr val="1F232B"/>
                </a:solidFill>
                <a:latin typeface="Courier New"/>
              </a:rPr>
              <a:t>t</a:t>
            </a:r>
            <a:r>
              <a:rPr sz="1400">
                <a:solidFill>
                  <a:srgbClr val="1F232B"/>
                </a:solidFill>
                <a:latin typeface="Courier New"/>
              </a:rPr>
              <a:t>e</a:t>
            </a:r>
            <a:r>
              <a:rPr sz="1400">
                <a:solidFill>
                  <a:srgbClr val="1F232B"/>
                </a:solidFill>
                <a:latin typeface="Courier New"/>
              </a:rPr>
              <a:t>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import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pandas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pd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with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s</a:t>
            </a:r>
            <a:r>
              <a:rPr sz="1400">
                <a:solidFill>
                  <a:srgbClr val="1F232B"/>
                </a:solidFill>
                <a:latin typeface="Courier New"/>
              </a:rPr>
              <a:t>q</a:t>
            </a:r>
            <a:r>
              <a:rPr sz="1400">
                <a:solidFill>
                  <a:srgbClr val="1F232B"/>
                </a:solidFill>
                <a:latin typeface="Courier New"/>
              </a:rPr>
              <a:t>l</a:t>
            </a:r>
            <a:r>
              <a:rPr sz="1400">
                <a:solidFill>
                  <a:srgbClr val="1F232B"/>
                </a:solidFill>
                <a:latin typeface="Courier New"/>
              </a:rPr>
              <a:t>i</a:t>
            </a:r>
            <a:r>
              <a:rPr sz="1400">
                <a:solidFill>
                  <a:srgbClr val="1F232B"/>
                </a:solidFill>
                <a:latin typeface="Courier New"/>
              </a:rPr>
              <a:t>t</a:t>
            </a:r>
            <a:r>
              <a:rPr sz="1400">
                <a:solidFill>
                  <a:srgbClr val="1F232B"/>
                </a:solidFill>
                <a:latin typeface="Courier New"/>
              </a:rPr>
              <a:t>e</a:t>
            </a:r>
            <a:r>
              <a:rPr sz="1400">
                <a:solidFill>
                  <a:srgbClr val="1F232B"/>
                </a:solidFill>
                <a:latin typeface="Courier New"/>
              </a:rPr>
              <a:t>3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connect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B45F06"/>
                </a:solidFill>
                <a:latin typeface="Courier New"/>
              </a:rPr>
              <a:t>"client_commande.db"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 b="1">
                <a:solidFill>
                  <a:srgbClr val="0E7C7B"/>
                </a:solidFill>
                <a:latin typeface="Courier New"/>
              </a:rPr>
              <a:t>as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con</a:t>
            </a:r>
            <a:r>
              <a:rPr sz="1400">
                <a:solidFill>
                  <a:srgbClr val="1F232B"/>
                </a:solidFill>
                <a:latin typeface="Courier New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</a:t>
            </a:r>
            <a:r>
              <a:rPr sz="1400">
                <a:solidFill>
                  <a:srgbClr val="1F232B"/>
                </a:solidFill>
                <a:latin typeface="Courier New"/>
              </a:rPr>
              <a:t>con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execute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B45F06"/>
                </a:solidFill>
                <a:latin typeface="Courier New"/>
              </a:rPr>
              <a:t>"PRAGMA foreign_keys = ON"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</a:t>
            </a:r>
            <a:r>
              <a:rPr sz="1400">
                <a:solidFill>
                  <a:srgbClr val="1F232B"/>
                </a:solidFill>
                <a:latin typeface="Courier New"/>
              </a:rPr>
              <a:t>df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pd</a:t>
            </a:r>
            <a:r>
              <a:rPr sz="1400">
                <a:solidFill>
                  <a:srgbClr val="1F232B"/>
                </a:solidFill>
                <a:latin typeface="Courier New"/>
              </a:rPr>
              <a:t>.</a:t>
            </a:r>
            <a:r>
              <a:rPr sz="1400">
                <a:solidFill>
                  <a:srgbClr val="1F232B"/>
                </a:solidFill>
                <a:latin typeface="Courier New"/>
              </a:rPr>
              <a:t>read_sql_query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    </a:t>
            </a:r>
            <a:r>
              <a:rPr sz="1400">
                <a:solidFill>
                  <a:srgbClr val="B45F06"/>
                </a:solidFill>
                <a:latin typeface="Courier New"/>
              </a:rPr>
              <a:t>""</a:t>
            </a:r>
            <a:r>
              <a:rPr sz="1400">
                <a:solidFill>
                  <a:srgbClr val="B45F06"/>
                </a:solidFill>
                <a:latin typeface="Courier New"/>
              </a:rPr>
              <a:t>"</a:t>
            </a:r>
            <a:r>
              <a:rPr sz="1400">
                <a:solidFill>
                  <a:srgbClr val="1F232B"/>
                </a:solidFill>
                <a:latin typeface="Courier New"/>
              </a:rPr>
              <a:t>SELECT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400">
                <a:solidFill>
                  <a:srgbClr val="1F232B"/>
                </a:solidFill>
                <a:latin typeface="Courier New"/>
              </a:rPr>
              <a:t>,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COUNT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1F232B"/>
                </a:solidFill>
                <a:latin typeface="Courier New"/>
              </a:rPr>
              <a:t>*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AS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nb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       </a:t>
            </a:r>
            <a:r>
              <a:rPr sz="1400">
                <a:solidFill>
                  <a:srgbClr val="1F232B"/>
                </a:solidFill>
                <a:latin typeface="Courier New"/>
              </a:rPr>
              <a:t>FROM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client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       </a:t>
            </a:r>
            <a:r>
              <a:rPr sz="1400">
                <a:solidFill>
                  <a:srgbClr val="1F232B"/>
                </a:solidFill>
                <a:latin typeface="Courier New"/>
              </a:rPr>
              <a:t>WHERE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COMPTE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&lt;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?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       </a:t>
            </a:r>
            <a:r>
              <a:rPr sz="1400">
                <a:solidFill>
                  <a:srgbClr val="1F232B"/>
                </a:solidFill>
                <a:latin typeface="Courier New"/>
              </a:rPr>
              <a:t>GROUP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BY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LOCALITE</a:t>
            </a:r>
            <a:r>
              <a:rPr sz="1400">
                <a:solidFill>
                  <a:srgbClr val="B45F06"/>
                </a:solidFill>
                <a:latin typeface="Courier New"/>
              </a:rPr>
              <a:t>""</a:t>
            </a:r>
            <a:r>
              <a:rPr sz="1400">
                <a:solidFill>
                  <a:srgbClr val="B45F06"/>
                </a:solidFill>
                <a:latin typeface="Courier New"/>
              </a:rPr>
              <a:t>"</a:t>
            </a:r>
            <a:r>
              <a:rPr sz="1400">
                <a:solidFill>
                  <a:srgbClr val="1F232B"/>
                </a:solidFill>
                <a:latin typeface="Courier New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       </a:t>
            </a:r>
            <a:r>
              <a:rPr sz="1400">
                <a:solidFill>
                  <a:srgbClr val="1F232B"/>
                </a:solidFill>
                <a:latin typeface="Courier New"/>
              </a:rPr>
              <a:t>con</a:t>
            </a:r>
            <a:r>
              <a:rPr sz="1400">
                <a:solidFill>
                  <a:srgbClr val="1F232B"/>
                </a:solidFill>
                <a:latin typeface="Courier New"/>
              </a:rPr>
              <a:t>,</a:t>
            </a: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  <a:r>
              <a:rPr sz="1400">
                <a:solidFill>
                  <a:srgbClr val="1F232B"/>
                </a:solidFill>
                <a:latin typeface="Courier New"/>
              </a:rPr>
              <a:t>params</a:t>
            </a:r>
            <a:r>
              <a:rPr sz="1400">
                <a:solidFill>
                  <a:srgbClr val="1F232B"/>
                </a:solidFill>
                <a:latin typeface="Courier New"/>
              </a:rPr>
              <a:t>=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1F232B"/>
                </a:solidFill>
                <a:latin typeface="Courier New"/>
              </a:rPr>
              <a:t>0</a:t>
            </a:r>
            <a:r>
              <a:rPr sz="1400">
                <a:solidFill>
                  <a:srgbClr val="1F232B"/>
                </a:solidFill>
                <a:latin typeface="Courier New"/>
              </a:rPr>
              <a:t>,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F232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Courier New"/>
              </a:rPr>
              <a:t>print</a:t>
            </a:r>
            <a:r>
              <a:rPr sz="1400">
                <a:solidFill>
                  <a:srgbClr val="1F232B"/>
                </a:solidFill>
                <a:latin typeface="Courier New"/>
              </a:rPr>
              <a:t>(</a:t>
            </a:r>
            <a:r>
              <a:rPr sz="1400">
                <a:solidFill>
                  <a:srgbClr val="1F232B"/>
                </a:solidFill>
                <a:latin typeface="Courier New"/>
              </a:rPr>
              <a:t>df</a:t>
            </a:r>
            <a:r>
              <a:rPr sz="1400">
                <a:solidFill>
                  <a:srgbClr val="1F232B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DataFrame obtenu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80960" y="1618488"/>
          <a:ext cx="2743200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LOCALITE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Namur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Toulouse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80960" y="3337560"/>
            <a:ext cx="3931920" cy="196596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0" y="3447288"/>
            <a:ext cx="3566160" cy="1746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42318"/>
                </a:solidFill>
                <a:latin typeface="Calibri"/>
              </a:rPr>
              <a:t>Paramètres « ? 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Ne </a:t>
            </a:r>
            <a:r>
              <a:rPr sz="1400" b="1" i="0">
                <a:solidFill>
                  <a:srgbClr val="1F232B"/>
                </a:solidFill>
                <a:latin typeface="Calibri"/>
              </a:rPr>
              <a:t>jamais</a:t>
            </a:r>
            <a:r>
              <a:rPr sz="1400" b="0" i="0">
                <a:solidFill>
                  <a:srgbClr val="1F232B"/>
                </a:solidFill>
                <a:latin typeface="Calibri"/>
              </a:rPr>
              <a:t> construire une requête par concaténation de chaînes (f-string) avec des valeurs saisies : risque d'</a:t>
            </a:r>
            <a:r>
              <a:rPr sz="1400" b="1" i="0">
                <a:solidFill>
                  <a:srgbClr val="1F232B"/>
                </a:solidFill>
                <a:latin typeface="Calibri"/>
              </a:rPr>
              <a:t>injection SQL</a:t>
            </a:r>
            <a:r>
              <a:rPr sz="1400" b="0" i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Correspondances SQL ↔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84547"/>
                <a:gridCol w="3550212"/>
                <a:gridCol w="4659654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Opération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pandas</a:t>
                      </a:r>
                    </a:p>
                  </a:txBody>
                  <a:tcPr marL="73152" marR="73152" marT="18288" marB="18288" anchor="ctr"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Choisir des colonnes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SELECT a, 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df[["a", "b"]]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Filtrer des lignes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WHERE x &gt; 0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df[df["x"] &gt; 0]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Joindre deux tables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JOIN t2 ON t1.k = t2.k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df1.merge(df2, on="k")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Jointure externe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LEFT JOIN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merge(..., how="left")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Regrouper / agréger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GROUP BY k + SUM(x)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df.groupby("k")["x"].sum()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Filtrer des groupes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HAVING COUNT(*) &gt;= 2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filtre après groupby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Trier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ORDER BY x DESC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df.sort_values("x", ascending=False)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Valeurs distinctes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SELECT DISTINCT k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df["k"].unique()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Valeur manquante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IS NULL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df["x"].isna()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alibri"/>
                        </a:rPr>
                        <a:t>Unicité d'une clé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PRIMARY KEY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32B"/>
                          </a:solidFill>
                          <a:latin typeface="Courier New"/>
                        </a:rPr>
                        <a:t>df["k"].is_unique</a:t>
                      </a:r>
                    </a:p>
                  </a:txBody>
                  <a:tcPr marL="73152" marR="73152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Différence essentielle : le SGBD </a:t>
            </a:r>
            <a:r>
              <a:rPr sz="1500" b="1" i="0">
                <a:solidFill>
                  <a:srgbClr val="5B6573"/>
                </a:solidFill>
                <a:latin typeface="Calibri"/>
              </a:rPr>
              <a:t>garantit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 les contraintes ; pandas ne vérifie rien sans que vous le demandiez.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Accès rapide : les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035040" cy="10058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06439" y="1188720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669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ourier New"/>
              </a:rPr>
              <a:t>CREATE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INDEX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idx_commande_ncli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1F232B"/>
                </a:solidFill>
                <a:latin typeface="Courier New"/>
              </a:rPr>
              <a:t>    </a:t>
            </a:r>
            <a:r>
              <a:rPr sz="1500" b="1">
                <a:solidFill>
                  <a:srgbClr val="0E7C7B"/>
                </a:solidFill>
                <a:latin typeface="Courier New"/>
              </a:rPr>
              <a:t>ON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commande</a:t>
            </a:r>
            <a:r>
              <a:rPr sz="1500">
                <a:solidFill>
                  <a:srgbClr val="1F232B"/>
                </a:solidFill>
                <a:latin typeface="Courier New"/>
              </a:rPr>
              <a:t> </a:t>
            </a:r>
            <a:r>
              <a:rPr sz="1500">
                <a:solidFill>
                  <a:srgbClr val="1F232B"/>
                </a:solidFill>
                <a:latin typeface="Courier New"/>
              </a:rPr>
              <a:t>(</a:t>
            </a:r>
            <a:r>
              <a:rPr sz="1500">
                <a:solidFill>
                  <a:srgbClr val="1F232B"/>
                </a:solidFill>
                <a:latin typeface="Courier New"/>
              </a:rPr>
              <a:t>NCLI</a:t>
            </a:r>
            <a:r>
              <a:rPr sz="1500">
                <a:solidFill>
                  <a:srgbClr val="1F232B"/>
                </a:solidFill>
                <a:latin typeface="Courier New"/>
              </a:rPr>
              <a:t>)</a:t>
            </a:r>
            <a:r>
              <a:rPr sz="1500">
                <a:solidFill>
                  <a:srgbClr val="1F232B"/>
                </a:solidFill>
                <a:latin typeface="Courier New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60350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sans index : le SGBD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parcourt toute la table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(lecture séquentielle)</a:t>
            </a: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avec index : il trouve les lignes directement (arbre B, comme un dictionnaire trié)</a:t>
            </a: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utile sur les colonnes de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jointure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et de </a:t>
            </a:r>
            <a:r>
              <a:rPr sz="1600" b="1" i="0">
                <a:solidFill>
                  <a:srgbClr val="1F232B"/>
                </a:solidFill>
                <a:latin typeface="Calibri"/>
              </a:rPr>
              <a:t>filtre</a:t>
            </a:r>
            <a:r>
              <a:rPr sz="1600" b="0" i="0">
                <a:solidFill>
                  <a:srgbClr val="1F232B"/>
                </a:solidFill>
                <a:latin typeface="Calibri"/>
              </a:rPr>
              <a:t> fréquentes</a:t>
            </a:r>
          </a:p>
          <a:p>
            <a:pPr algn="l" marL="256032" indent="-219456">
              <a:spcAft>
                <a:spcPts val="800"/>
              </a:spcAft>
              <a:buClr>
                <a:srgbClr val="0E7C7B"/>
              </a:buClr>
              <a:buFont typeface="Arial"/>
              <a:buChar char="•"/>
            </a:pPr>
            <a:r>
              <a:rPr sz="1600" b="0" i="0">
                <a:solidFill>
                  <a:srgbClr val="1F232B"/>
                </a:solidFill>
                <a:latin typeface="Calibri"/>
              </a:rPr>
              <a:t>coût : de la place et des écritures plus lentes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25880"/>
            <a:ext cx="4480560" cy="18288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42318"/>
                </a:solidFill>
                <a:latin typeface="Calibri"/>
              </a:rPr>
              <a:t>Sans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A41"/>
                </a:solidFill>
                <a:latin typeface="Cambria"/>
              </a:rPr>
              <a:t>1 000 000 lignes 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429000"/>
            <a:ext cx="4480560" cy="1828800"/>
          </a:xfrm>
          <a:prstGeom prst="roundRect">
            <a:avLst>
              <a:gd name="adj" fmla="val 8000"/>
            </a:avLst>
          </a:prstGeom>
          <a:solidFill>
            <a:srgbClr val="E7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0" y="36118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7B34"/>
                </a:solidFill>
                <a:latin typeface="Calibri"/>
              </a:rPr>
              <a:t>Avec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1605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A41"/>
                </a:solidFill>
                <a:latin typeface="Cambria"/>
              </a:rPr>
              <a:t>3 à 4 pages 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3949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B6573"/>
                </a:solidFill>
                <a:latin typeface="Calibri"/>
              </a:rPr>
              <a:t>Ordre de grandeur pour retrouver une ligne parmi 10⁶ (arbre B).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0E7C7B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SGBD et enjeux actuels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4E3"/>
                </a:solidFill>
                <a:latin typeface="Calibri"/>
              </a:rPr>
              <a:t>fondements   ·   rôle d'un SGBD   ·   familles de SGBD   ·   défis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Fondements théoriques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463040" cy="685800"/>
          </a:xfrm>
          <a:prstGeom prst="roundRect">
            <a:avLst>
              <a:gd name="adj" fmla="val 2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1970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25880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Modèle relationnel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325880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E. F. Codd : tables, algèbre relationnelle (sélection, projection, jointure…)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1"/>
            <a:ext cx="1463040" cy="685800"/>
          </a:xfrm>
          <a:prstGeom prst="roundRect">
            <a:avLst>
              <a:gd name="adj" fmla="val 2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221991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1974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21991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21991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langage déclaratif (IBM), normalisé ISO depuis 1987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18104"/>
            <a:ext cx="1463040" cy="685800"/>
          </a:xfrm>
          <a:prstGeom prst="roundRect">
            <a:avLst>
              <a:gd name="adj" fmla="val 2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3118104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1970–80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18104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Normalisation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118104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1NF, 2NF, 3NF, BCNF : éviter redondances et anomalies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14215"/>
            <a:ext cx="1463040" cy="685800"/>
          </a:xfrm>
          <a:prstGeom prst="roundRect">
            <a:avLst>
              <a:gd name="adj" fmla="val 2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4014215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14215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Optimisation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014215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le SGBD réécrit la requête pour l'exécuter efficacement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10328"/>
            <a:ext cx="1463040" cy="685800"/>
          </a:xfrm>
          <a:prstGeom prst="roundRect">
            <a:avLst>
              <a:gd name="adj" fmla="val 2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910328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910328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Monde clos (CWA)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910328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573"/>
                </a:solidFill>
                <a:latin typeface="Calibri"/>
              </a:rPr>
              <a:t>ce qui n'est pas dans la base est considéré comme faux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Le rôle d'un SGBD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0020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Stocker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des volumes importants, de façon durable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480559" y="160020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19" y="160020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Retrouver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9456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index, optimisation des requêtes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1732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29599" y="160020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160020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Garantir la cohérence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19456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contraintes, transactions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4048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Partager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accès concurrents de nombreux utilisateurs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65760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480559" y="384048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384048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Protéger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43484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droits d'accès, confidentialité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65760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29599" y="384048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59" y="384048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Calibri"/>
              </a:rPr>
              <a:t>Récupérer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434840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sauvegardes, reprise après panne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Familles de SGBD aujourd'hui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Relationnels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0E7C7B"/>
                </a:solidFill>
                <a:latin typeface="Calibri"/>
              </a:rPr>
              <a:t>transactionnels (OLTP)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PostgreSQL · MySQL / MariaDB · Oracle · SQL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Embarqués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0E7C7B"/>
                </a:solidFill>
                <a:latin typeface="Calibri"/>
              </a:rPr>
              <a:t>un fichier, sans serveur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34639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SQLite · DuckDB (analytique)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41732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59" y="1600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Analytiques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10312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0E7C7B"/>
                </a:solidFill>
                <a:latin typeface="Calibri"/>
              </a:rPr>
              <a:t>entrepôts, colonnes (OLAP)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834639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Snowflake · BigQuery · ClickHouse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141732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98279" y="1600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NoSQL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79" y="210312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0E7C7B"/>
                </a:solidFill>
                <a:latin typeface="Calibri"/>
              </a:rPr>
              <a:t>documents, clé-valeur, graphes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2834639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MongoDB · Redis · Neo4j · Cassandra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10728655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32B"/>
                </a:solidFill>
                <a:latin typeface="Calibri"/>
              </a:rPr>
              <a:t>SQL reste la </a:t>
            </a:r>
            <a:r>
              <a:rPr sz="1500" b="1" i="0">
                <a:solidFill>
                  <a:srgbClr val="1F232B"/>
                </a:solidFill>
                <a:latin typeface="Calibri"/>
              </a:rPr>
              <a:t>lingua franca</a:t>
            </a:r>
            <a:r>
              <a:rPr sz="1500" b="0" i="0">
                <a:solidFill>
                  <a:srgbClr val="1F232B"/>
                </a:solidFill>
                <a:latin typeface="Calibri"/>
              </a:rPr>
              <a:t> : la plupart des systèmes analytiques et même certains NoSQL proposent une interface SQL.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mbria"/>
              </a:rPr>
              <a:t>Les défis des bases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Types variés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textes, images, données spatiales, séries temporelles,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Information incomplète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valeurs manquantes ou erronées : NULL, qualité des données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32588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59" y="1508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Volumes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19456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milliards de lignes : performance, disponibilité, coût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32588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98279" y="1508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Accès non-informaticiens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19456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interfaces graphiques, langage naturel → SQL (IA)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Évolution du schéma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ajouter une colonne sans casser les programmes existants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65760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520440" y="384048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Données distribuées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52628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cloud, réplication, mobiles : cohérence et disponibilité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365760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09359" y="384048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Décisionnel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52628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entrepôts de données : de gros volumes pour une réponse courte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399" y="365760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98279" y="384048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Sécurité et RGPD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79" y="4526280"/>
            <a:ext cx="2240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B"/>
                </a:solidFill>
                <a:latin typeface="Calibri"/>
              </a:rPr>
              <a:t>données personnelles, droits d'accès, traçabilité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À retenir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Une table, une clé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554480"/>
            <a:ext cx="69494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4E3"/>
                </a:solidFill>
                <a:latin typeface="Calibri"/>
              </a:rPr>
              <a:t>chaque table a une clé primaire ; les clés étrangères relient les tables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3172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Le SGBD protège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31720"/>
            <a:ext cx="69494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4E3"/>
                </a:solidFill>
                <a:latin typeface="Calibri"/>
              </a:rPr>
              <a:t>unicité, intégrité référentielle, NOT NULL, CHECK — activez les FK dans SQLite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0896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SQL est déclaratif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108960"/>
            <a:ext cx="69494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4E3"/>
                </a:solidFill>
                <a:latin typeface="Calibri"/>
              </a:rPr>
              <a:t>FROM → WHERE → GROUP BY → HAVING → SELECT → ORDER BY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8620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Jointures avec soin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86200"/>
            <a:ext cx="69494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4E3"/>
                </a:solidFill>
                <a:latin typeface="Calibri"/>
              </a:rPr>
              <a:t>toujours une condition de jointure ; LEFT JOIN pour garder les orphelins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6344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NULL ≠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663440"/>
            <a:ext cx="69494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4E3"/>
                </a:solidFill>
                <a:latin typeface="Calibri"/>
              </a:rPr>
              <a:t>IS NULL ; les agrégats ignorent les NULL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48640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4068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SQL ≈ 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440680"/>
            <a:ext cx="694944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4E3"/>
                </a:solidFill>
                <a:latin typeface="Calibri"/>
              </a:rPr>
              <a:t>JOIN ↔ merge, GROUP BY ↔ groupby : même logique, garanties différentes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Bases de données relationnelles et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AA8BA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